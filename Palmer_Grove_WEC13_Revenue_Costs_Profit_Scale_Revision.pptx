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reading the question the lesson will answer. Do not start with the definition list. Tell pupils the success criteria are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this is the whole of the cost and revenue block, not a new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2-mark application. Award both marks for $18 with no working.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Profit max is 4 because the 4th unit has MR 22 and MC 16. The 5th has MR 18 and MC 20.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4-mark question. Knowledge: normal profit is in AC, so AR = AC. Application: 14 − 11 = 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6-mark analysis. Contribution is $2 a unit. Loss open $1,200 versus shutdown $2,000.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marks. Maximum 2 if both examples are internal, or if the college is called internal.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Airline stem: one head office, four hubs, brands no longer compete. Do not accept diminishing returns.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and why: D. Purchasing economies come from the firm’s own scale: a movement along LRAC. A and B are external. C is an input-price rise, not scale.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and why: B. AVC = 40,000 / 8,000 = $5. A is AFC. C is ATC. D is AVC at 16,000, where TVC is $96,000.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and why: B. The fourth unit has MR $22 and MC $16. The fifth has MR $18 and MC $20, so profit falls from $12 to $10.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and why: B. 16 maximises total revenue. 20 is in the inelastic region: both revenue and profit are falling.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and why: B. A is a loss smaller than TFC: stay open. C means cut output back to MC = MR, not close. D is AR = AC: stay in the long run.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and why: A. The percentage fall in quantity is smaller than the percentage rise in price. MR is negative in this region. Maximum TR is where MR = 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and why: B. A is diminishing returns, short run. C shifts every firm’s costs up. D is an external economy.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and why: C. A is the bottom of AVC. B maximises total revenue. D is MC = MR, which need not be the bottom of LRAC.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 1: 130−112 = 18 (1), $18 (1). Both marks for $18 alone.</a:t>
            </a:r>
          </a:p>
          <a:p>
            <a:r>
              <a:t>MS 2: lowest output (1) at which LRAC is minimised (1). Reject MC = MR.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4-mark cap: definition with no use of 14 and 11 is 2 marks.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own output, bulk chips, movement along LRAC. External: college from industry growth, skilled labour, LRAC shifts down.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aloud once, then make them label ‘movement’ and ‘shift’ on a blank LRAC.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Reason 1: P &gt; AVC, contribution $2, output 400, loss $1,200 against shutdown loss $2,000.</a:t>
            </a:r>
          </a:p>
          <a:p>
            <a:r>
              <a:t>Reason 2: fixed cost is sunk this week, or the loss may be temporary.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reason needs the idea, the four hubs or the lost rivalry, and the effect on cost per flight. Diminishing returns scores nothing here.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economy: one line over up to 3,000 buses. Purchasing: steel lots. Diseconomy: 400 km and delayed reports. Judgement: LRAC falls only if the plant is used and is still below MES.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Maximum 4 if only economies or only diseconomies. Maximum 6 if the numbers, the line, the steel, the 400 km or the delay are never used.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AR, MR, AC, MC. Shift AC and MC down. Profit box grows only if the cost cut is kept. Evaluation: four depots, inelastic price cut, X-inefficiency.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pattern as recent WEC13 14-mark judgement items. This question is original.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model is in the lesson notes. Do not award Level 3 evaluation for ‘it depends on costs’ with no supermarket or depot.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market in the first paragraph and use it on both sides. MES is the bottom of LRAC. Profit max is MC = MR. Those outputs need not match.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4 KAA is 10–12: precise theory, a used diagram, a chain, and the named market throughout. Evaluation Level 3 is 7–8.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D3D"/>
          </a:solidFill>
          <a:ln>
            <a:noFill/>
          </a:ln>
          <a:effectLst/>
        </p:spPr>
        <p:txBody>
          <a:bodyPr rtlCol="0" anchor="ctr"/>
          <a:lstStyle/>
          <a:p>
            <a:pPr algn="ctr"/>
          </a:p>
        </p:txBody>
      </p:sp>
      <p:sp>
        <p:nvSpPr>
          <p:cNvPr id="3" name="Rectangle 2"/>
          <p:cNvSpPr/>
          <p:nvPr/>
        </p:nvSpPr>
        <p:spPr>
          <a:xfrm>
            <a:off x="0" y="0"/>
            <a:ext cx="12191695" cy="109728"/>
          </a:xfrm>
          <a:prstGeom prst="rect">
            <a:avLst/>
          </a:prstGeom>
          <a:solidFill>
            <a:srgbClr val="55CDC0"/>
          </a:solidFill>
          <a:ln>
            <a:noFill/>
          </a:ln>
          <a:effectLst/>
        </p:spPr>
        <p:txBody>
          <a:bodyPr rtlCol="0" anchor="ctr"/>
          <a:lstStyle/>
          <a:p>
            <a:pPr algn="ctr"/>
          </a:p>
        </p:txBody>
      </p:sp>
      <p:sp>
        <p:nvSpPr>
          <p:cNvPr id="4" name="Rectangle 3"/>
          <p:cNvSpPr/>
          <p:nvPr/>
        </p:nvSpPr>
        <p:spPr>
          <a:xfrm>
            <a:off x="0" y="6748272"/>
            <a:ext cx="12191695" cy="109728"/>
          </a:xfrm>
          <a:prstGeom prst="rect">
            <a:avLst/>
          </a:prstGeom>
          <a:solidFill>
            <a:srgbClr val="55CDC0"/>
          </a:solidFill>
          <a:ln>
            <a:noFill/>
          </a:ln>
          <a:effectLst/>
        </p:spPr>
        <p:txBody>
          <a:bodyPr rtlCol="0" anchor="ctr"/>
          <a:lstStyle/>
          <a:p>
            <a:pPr algn="ctr"/>
          </a:p>
        </p:txBody>
      </p:sp>
      <p:sp>
        <p:nvSpPr>
          <p:cNvPr id="5" name="TextBox 4"/>
          <p:cNvSpPr txBox="1"/>
          <p:nvPr/>
        </p:nvSpPr>
        <p:spPr>
          <a:xfrm>
            <a:off x="640080" y="411480"/>
            <a:ext cx="7315200" cy="320040"/>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55CDC0"/>
                </a:solidFill>
                <a:latin typeface="Calibri"/>
                <a:cs typeface="Calibri"/>
                <a:ea typeface="Calibri"/>
              </a:rPr>
              <a:t>PALMER GROVE  ·  WEC13  ·  UNIT 3</a:t>
            </a:r>
          </a:p>
        </p:txBody>
      </p:sp>
      <p:sp>
        <p:nvSpPr>
          <p:cNvPr id="6" name="TextBox 5"/>
          <p:cNvSpPr txBox="1"/>
          <p:nvPr/>
        </p:nvSpPr>
        <p:spPr>
          <a:xfrm>
            <a:off x="594360" y="1188720"/>
            <a:ext cx="10972800" cy="2194560"/>
          </a:xfrm>
          <a:prstGeom prst="rect">
            <a:avLst/>
          </a:prstGeom>
          <a:noFill/>
        </p:spPr>
        <p:txBody>
          <a:bodyPr wrap="square" lIns="54864" rIns="54864" tIns="36576" bIns="18288" anchor="t"/>
          <a:lstStyle/>
          <a:p>
            <a:pPr algn="l">
              <a:lnSpc>
                <a:spcPct val="105000"/>
              </a:lnSpc>
              <a:spcBef>
                <a:spcPts val="0"/>
              </a:spcBef>
              <a:spcAft>
                <a:spcPts val="0"/>
              </a:spcAft>
            </a:pPr>
            <a:r>
              <a:rPr sz="4800" b="1" i="0">
                <a:solidFill>
                  <a:srgbClr val="FFFFFF"/>
                </a:solidFill>
                <a:latin typeface="Calibri"/>
                <a:cs typeface="Calibri"/>
                <a:ea typeface="Calibri"/>
              </a:rPr>
              <a:t>Revenue, costs,</a:t>
            </a:r>
          </a:p>
          <a:p>
            <a:pPr algn="l">
              <a:lnSpc>
                <a:spcPct val="105000"/>
              </a:lnSpc>
              <a:spcBef>
                <a:spcPts val="200"/>
              </a:spcBef>
              <a:spcAft>
                <a:spcPts val="0"/>
              </a:spcAft>
            </a:pPr>
            <a:r>
              <a:rPr sz="4800" b="1" i="0">
                <a:solidFill>
                  <a:srgbClr val="FFFFFF"/>
                </a:solidFill>
                <a:latin typeface="Calibri"/>
                <a:cs typeface="Calibri"/>
                <a:ea typeface="Calibri"/>
              </a:rPr>
              <a:t>profit and scale</a:t>
            </a:r>
          </a:p>
        </p:txBody>
      </p:sp>
      <p:sp>
        <p:nvSpPr>
          <p:cNvPr id="7" name="TextBox 6"/>
          <p:cNvSpPr txBox="1"/>
          <p:nvPr/>
        </p:nvSpPr>
        <p:spPr>
          <a:xfrm>
            <a:off x="640080" y="3703320"/>
            <a:ext cx="9601200" cy="100584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D6E4EA"/>
                </a:solidFill>
                <a:latin typeface="Calibri"/>
                <a:cs typeface="Calibri"/>
                <a:ea typeface="Calibri"/>
              </a:rPr>
              <a:t>A revision lesson for WEC13 section 3.3.2. Original questions, not a past paper.</a:t>
            </a:r>
          </a:p>
        </p:txBody>
      </p:sp>
      <p:sp>
        <p:nvSpPr>
          <p:cNvPr id="8" name="Rectangle 7"/>
          <p:cNvSpPr/>
          <p:nvPr/>
        </p:nvSpPr>
        <p:spPr>
          <a:xfrm>
            <a:off x="640080" y="4937760"/>
            <a:ext cx="2011680" cy="54864"/>
          </a:xfrm>
          <a:prstGeom prst="rect">
            <a:avLst/>
          </a:prstGeom>
          <a:solidFill>
            <a:srgbClr val="C4A35A"/>
          </a:solidFill>
          <a:ln>
            <a:noFill/>
          </a:ln>
          <a:effectLst/>
        </p:spPr>
        <p:txBody>
          <a:bodyPr rtlCol="0" anchor="ctr"/>
          <a:lstStyle/>
          <a:p>
            <a:pPr algn="ctr"/>
          </a:p>
        </p:txBody>
      </p:sp>
      <p:sp>
        <p:nvSpPr>
          <p:cNvPr id="9" name="TextBox 8"/>
          <p:cNvSpPr txBox="1"/>
          <p:nvPr/>
        </p:nvSpPr>
        <p:spPr>
          <a:xfrm>
            <a:off x="640080" y="5120640"/>
            <a:ext cx="10241280" cy="109728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E7F6F4"/>
                </a:solidFill>
                <a:latin typeface="Calibri"/>
                <a:cs typeface="Calibri"/>
                <a:ea typeface="Calibri"/>
              </a:rPr>
              <a:t>Bring a calculator. The numbers are small. The mark is for saying what they mean.</a:t>
            </a:r>
          </a:p>
        </p:txBody>
      </p:sp>
      <p:sp>
        <p:nvSpPr>
          <p:cNvPr id="10" name="TextBox 9"/>
          <p:cNvSpPr txBox="1"/>
          <p:nvPr/>
        </p:nvSpPr>
        <p:spPr>
          <a:xfrm>
            <a:off x="640080" y="6309360"/>
            <a:ext cx="10515600" cy="320040"/>
          </a:xfrm>
          <a:prstGeom prst="rect">
            <a:avLst/>
          </a:prstGeom>
          <a:noFill/>
        </p:spPr>
        <p:txBody>
          <a:bodyPr wrap="square" lIns="54864" rIns="54864" tIns="36576" bIns="18288" anchor="t"/>
          <a:lstStyle/>
          <a:p>
            <a:pPr algn="l">
              <a:lnSpc>
                <a:spcPct val="105000"/>
              </a:lnSpc>
              <a:spcBef>
                <a:spcPts val="0"/>
              </a:spcBef>
              <a:spcAft>
                <a:spcPts val="0"/>
              </a:spcAft>
            </a:pPr>
            <a:r>
              <a:rPr sz="1200" b="0" i="0">
                <a:solidFill>
                  <a:srgbClr val="B7D3DE"/>
                </a:solidFill>
                <a:latin typeface="Calibri"/>
                <a:cs typeface="Calibri"/>
                <a:ea typeface="Calibri"/>
              </a:rPr>
              <a:t>Palmer Grove  ·  not an official Pearson resource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LESSON ROUTE</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Where this lesson goes</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2/44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71600"/>
            <a:ext cx="3657600" cy="3246120"/>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71600"/>
            <a:ext cx="3657600" cy="91440"/>
          </a:xfrm>
          <a:prstGeom prst="rect">
            <a:avLst/>
          </a:prstGeom>
          <a:solidFill>
            <a:srgbClr val="55CDC0"/>
          </a:solidFill>
          <a:ln>
            <a:noFill/>
          </a:ln>
          <a:effectLst/>
        </p:spPr>
        <p:txBody>
          <a:bodyPr rtlCol="0" anchor="ctr"/>
          <a:lstStyle/>
          <a:p>
            <a:pPr algn="ctr"/>
          </a:p>
        </p:txBody>
      </p:sp>
      <p:sp>
        <p:nvSpPr>
          <p:cNvPr id="11" name="TextBox 10"/>
          <p:cNvSpPr txBox="1"/>
          <p:nvPr/>
        </p:nvSpPr>
        <p:spPr>
          <a:xfrm>
            <a:off x="521207" y="1600200"/>
            <a:ext cx="3383280" cy="365760"/>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0E7C7B"/>
                </a:solidFill>
                <a:latin typeface="Calibri"/>
                <a:cs typeface="Calibri"/>
                <a:ea typeface="Calibri"/>
              </a:rPr>
              <a:t>FIRST</a:t>
            </a:r>
          </a:p>
        </p:txBody>
      </p:sp>
      <p:sp>
        <p:nvSpPr>
          <p:cNvPr id="12" name="TextBox 11"/>
          <p:cNvSpPr txBox="1"/>
          <p:nvPr/>
        </p:nvSpPr>
        <p:spPr>
          <a:xfrm>
            <a:off x="521207" y="2011680"/>
            <a:ext cx="3383280" cy="914400"/>
          </a:xfrm>
          <a:prstGeom prst="rect">
            <a:avLst/>
          </a:prstGeom>
          <a:noFill/>
        </p:spPr>
        <p:txBody>
          <a:bodyPr wrap="square" lIns="54864" rIns="54864" tIns="36576" bIns="18288" anchor="t"/>
          <a:lstStyle/>
          <a:p>
            <a:pPr algn="l">
              <a:lnSpc>
                <a:spcPct val="105000"/>
              </a:lnSpc>
              <a:spcBef>
                <a:spcPts val="0"/>
              </a:spcBef>
              <a:spcAft>
                <a:spcPts val="0"/>
              </a:spcAft>
            </a:pPr>
            <a:r>
              <a:rPr sz="2400" b="1" i="0">
                <a:solidFill>
                  <a:srgbClr val="182D3D"/>
                </a:solidFill>
                <a:latin typeface="Calibri"/>
                <a:cs typeface="Calibri"/>
                <a:ea typeface="Calibri"/>
              </a:rPr>
              <a:t>Revenue</a:t>
            </a:r>
          </a:p>
        </p:txBody>
      </p:sp>
      <p:sp>
        <p:nvSpPr>
          <p:cNvPr id="13" name="TextBox 12"/>
          <p:cNvSpPr txBox="1"/>
          <p:nvPr/>
        </p:nvSpPr>
        <p:spPr>
          <a:xfrm>
            <a:off x="521207" y="3017520"/>
            <a:ext cx="3383280" cy="1371600"/>
          </a:xfrm>
          <a:prstGeom prst="rect">
            <a:avLst/>
          </a:prstGeom>
          <a:noFill/>
        </p:spPr>
        <p:txBody>
          <a:bodyPr wrap="square" lIns="54864" rIns="54864" tIns="36576" bIns="18288" anchor="t"/>
          <a:lstStyle/>
          <a:p>
            <a:pPr algn="l">
              <a:lnSpc>
                <a:spcPct val="105000"/>
              </a:lnSpc>
              <a:spcBef>
                <a:spcPts val="0"/>
              </a:spcBef>
              <a:spcAft>
                <a:spcPts val="0"/>
              </a:spcAft>
            </a:pPr>
            <a:r>
              <a:rPr sz="1800" b="0" i="0">
                <a:solidFill>
                  <a:srgbClr val="1C2B36"/>
                </a:solidFill>
                <a:latin typeface="Calibri"/>
                <a:cs typeface="Calibri"/>
                <a:ea typeface="Calibri"/>
              </a:rPr>
              <a:t>TR, AR, MR, and what elasticity does to a price change.</a:t>
            </a:r>
          </a:p>
        </p:txBody>
      </p:sp>
      <p:sp>
        <p:nvSpPr>
          <p:cNvPr id="14" name="Rectangle 13"/>
          <p:cNvSpPr/>
          <p:nvPr/>
        </p:nvSpPr>
        <p:spPr>
          <a:xfrm>
            <a:off x="4224528" y="1371600"/>
            <a:ext cx="3657600" cy="3246120"/>
          </a:xfrm>
          <a:prstGeom prst="rect">
            <a:avLst/>
          </a:prstGeom>
          <a:solidFill>
            <a:srgbClr val="FFFFFF"/>
          </a:solidFill>
          <a:ln w="12700">
            <a:solidFill>
              <a:srgbClr val="D5E2E6"/>
            </a:solidFill>
          </a:ln>
          <a:effectLst/>
        </p:spPr>
        <p:txBody>
          <a:bodyPr rtlCol="0" anchor="ctr"/>
          <a:lstStyle/>
          <a:p>
            <a:pPr algn="ctr"/>
          </a:p>
        </p:txBody>
      </p:sp>
      <p:sp>
        <p:nvSpPr>
          <p:cNvPr id="15" name="Rectangle 14"/>
          <p:cNvSpPr/>
          <p:nvPr/>
        </p:nvSpPr>
        <p:spPr>
          <a:xfrm>
            <a:off x="4224528" y="1371600"/>
            <a:ext cx="3657600" cy="91440"/>
          </a:xfrm>
          <a:prstGeom prst="rect">
            <a:avLst/>
          </a:prstGeom>
          <a:solidFill>
            <a:srgbClr val="55CDC0"/>
          </a:solidFill>
          <a:ln>
            <a:noFill/>
          </a:ln>
          <a:effectLst/>
        </p:spPr>
        <p:txBody>
          <a:bodyPr rtlCol="0" anchor="ctr"/>
          <a:lstStyle/>
          <a:p>
            <a:pPr algn="ctr"/>
          </a:p>
        </p:txBody>
      </p:sp>
      <p:sp>
        <p:nvSpPr>
          <p:cNvPr id="16" name="TextBox 15"/>
          <p:cNvSpPr txBox="1"/>
          <p:nvPr/>
        </p:nvSpPr>
        <p:spPr>
          <a:xfrm>
            <a:off x="4361688" y="1600200"/>
            <a:ext cx="3383280" cy="365760"/>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0E7C7B"/>
                </a:solidFill>
                <a:latin typeface="Calibri"/>
                <a:cs typeface="Calibri"/>
                <a:ea typeface="Calibri"/>
              </a:rPr>
              <a:t>THEN</a:t>
            </a:r>
          </a:p>
        </p:txBody>
      </p:sp>
      <p:sp>
        <p:nvSpPr>
          <p:cNvPr id="17" name="TextBox 16"/>
          <p:cNvSpPr txBox="1"/>
          <p:nvPr/>
        </p:nvSpPr>
        <p:spPr>
          <a:xfrm>
            <a:off x="4361688" y="2011680"/>
            <a:ext cx="3383280" cy="914400"/>
          </a:xfrm>
          <a:prstGeom prst="rect">
            <a:avLst/>
          </a:prstGeom>
          <a:noFill/>
        </p:spPr>
        <p:txBody>
          <a:bodyPr wrap="square" lIns="54864" rIns="54864" tIns="36576" bIns="18288" anchor="t"/>
          <a:lstStyle/>
          <a:p>
            <a:pPr algn="l">
              <a:lnSpc>
                <a:spcPct val="105000"/>
              </a:lnSpc>
              <a:spcBef>
                <a:spcPts val="0"/>
              </a:spcBef>
              <a:spcAft>
                <a:spcPts val="0"/>
              </a:spcAft>
            </a:pPr>
            <a:r>
              <a:rPr sz="2400" b="1" i="0">
                <a:solidFill>
                  <a:srgbClr val="182D3D"/>
                </a:solidFill>
                <a:latin typeface="Calibri"/>
                <a:cs typeface="Calibri"/>
                <a:ea typeface="Calibri"/>
              </a:rPr>
              <a:t>Costs and profit</a:t>
            </a:r>
          </a:p>
        </p:txBody>
      </p:sp>
      <p:sp>
        <p:nvSpPr>
          <p:cNvPr id="18" name="TextBox 17"/>
          <p:cNvSpPr txBox="1"/>
          <p:nvPr/>
        </p:nvSpPr>
        <p:spPr>
          <a:xfrm>
            <a:off x="4361688" y="3017520"/>
            <a:ext cx="3383280" cy="1371600"/>
          </a:xfrm>
          <a:prstGeom prst="rect">
            <a:avLst/>
          </a:prstGeom>
          <a:noFill/>
        </p:spPr>
        <p:txBody>
          <a:bodyPr wrap="square" lIns="54864" rIns="54864" tIns="36576" bIns="18288" anchor="t"/>
          <a:lstStyle/>
          <a:p>
            <a:pPr algn="l">
              <a:lnSpc>
                <a:spcPct val="105000"/>
              </a:lnSpc>
              <a:spcBef>
                <a:spcPts val="0"/>
              </a:spcBef>
              <a:spcAft>
                <a:spcPts val="0"/>
              </a:spcAft>
            </a:pPr>
            <a:r>
              <a:rPr sz="1800" b="0" i="0">
                <a:solidFill>
                  <a:srgbClr val="1C2B36"/>
                </a:solidFill>
                <a:latin typeface="Calibri"/>
                <a:cs typeface="Calibri"/>
                <a:ea typeface="Calibri"/>
              </a:rPr>
              <a:t>Shutdown, MC = MR, normal and supernormal profit.</a:t>
            </a:r>
          </a:p>
        </p:txBody>
      </p:sp>
      <p:sp>
        <p:nvSpPr>
          <p:cNvPr id="19" name="Rectangle 18"/>
          <p:cNvSpPr/>
          <p:nvPr/>
        </p:nvSpPr>
        <p:spPr>
          <a:xfrm>
            <a:off x="8065008" y="1371600"/>
            <a:ext cx="3657600" cy="3246120"/>
          </a:xfrm>
          <a:prstGeom prst="rect">
            <a:avLst/>
          </a:prstGeom>
          <a:solidFill>
            <a:srgbClr val="FFFFFF"/>
          </a:solidFill>
          <a:ln w="12700">
            <a:solidFill>
              <a:srgbClr val="D5E2E6"/>
            </a:solidFill>
          </a:ln>
          <a:effectLst/>
        </p:spPr>
        <p:txBody>
          <a:bodyPr rtlCol="0" anchor="ctr"/>
          <a:lstStyle/>
          <a:p>
            <a:pPr algn="ctr"/>
          </a:p>
        </p:txBody>
      </p:sp>
      <p:sp>
        <p:nvSpPr>
          <p:cNvPr id="20" name="Rectangle 19"/>
          <p:cNvSpPr/>
          <p:nvPr/>
        </p:nvSpPr>
        <p:spPr>
          <a:xfrm>
            <a:off x="8065008" y="1371600"/>
            <a:ext cx="3657600" cy="91440"/>
          </a:xfrm>
          <a:prstGeom prst="rect">
            <a:avLst/>
          </a:prstGeom>
          <a:solidFill>
            <a:srgbClr val="55CDC0"/>
          </a:solidFill>
          <a:ln>
            <a:noFill/>
          </a:ln>
          <a:effectLst/>
        </p:spPr>
        <p:txBody>
          <a:bodyPr rtlCol="0" anchor="ctr"/>
          <a:lstStyle/>
          <a:p>
            <a:pPr algn="ctr"/>
          </a:p>
        </p:txBody>
      </p:sp>
      <p:sp>
        <p:nvSpPr>
          <p:cNvPr id="21" name="TextBox 20"/>
          <p:cNvSpPr txBox="1"/>
          <p:nvPr/>
        </p:nvSpPr>
        <p:spPr>
          <a:xfrm>
            <a:off x="8202168" y="1600200"/>
            <a:ext cx="3383280" cy="365760"/>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0E7C7B"/>
                </a:solidFill>
                <a:latin typeface="Calibri"/>
                <a:cs typeface="Calibri"/>
                <a:ea typeface="Calibri"/>
              </a:rPr>
              <a:t>LAST</a:t>
            </a:r>
          </a:p>
        </p:txBody>
      </p:sp>
      <p:sp>
        <p:nvSpPr>
          <p:cNvPr id="22" name="TextBox 21"/>
          <p:cNvSpPr txBox="1"/>
          <p:nvPr/>
        </p:nvSpPr>
        <p:spPr>
          <a:xfrm>
            <a:off x="8202168" y="2011680"/>
            <a:ext cx="3383280" cy="914400"/>
          </a:xfrm>
          <a:prstGeom prst="rect">
            <a:avLst/>
          </a:prstGeom>
          <a:noFill/>
        </p:spPr>
        <p:txBody>
          <a:bodyPr wrap="square" lIns="54864" rIns="54864" tIns="36576" bIns="18288" anchor="t"/>
          <a:lstStyle/>
          <a:p>
            <a:pPr algn="l">
              <a:lnSpc>
                <a:spcPct val="105000"/>
              </a:lnSpc>
              <a:spcBef>
                <a:spcPts val="0"/>
              </a:spcBef>
              <a:spcAft>
                <a:spcPts val="0"/>
              </a:spcAft>
            </a:pPr>
            <a:r>
              <a:rPr sz="2400" b="1" i="0">
                <a:solidFill>
                  <a:srgbClr val="182D3D"/>
                </a:solidFill>
                <a:latin typeface="Calibri"/>
                <a:cs typeface="Calibri"/>
                <a:ea typeface="Calibri"/>
              </a:rPr>
              <a:t>Scale</a:t>
            </a:r>
          </a:p>
        </p:txBody>
      </p:sp>
      <p:sp>
        <p:nvSpPr>
          <p:cNvPr id="23" name="TextBox 22"/>
          <p:cNvSpPr txBox="1"/>
          <p:nvPr/>
        </p:nvSpPr>
        <p:spPr>
          <a:xfrm>
            <a:off x="8202168" y="3017520"/>
            <a:ext cx="3383280" cy="1371600"/>
          </a:xfrm>
          <a:prstGeom prst="rect">
            <a:avLst/>
          </a:prstGeom>
          <a:noFill/>
        </p:spPr>
        <p:txBody>
          <a:bodyPr wrap="square" lIns="54864" rIns="54864" tIns="36576" bIns="18288" anchor="t"/>
          <a:lstStyle/>
          <a:p>
            <a:pPr algn="l">
              <a:lnSpc>
                <a:spcPct val="105000"/>
              </a:lnSpc>
              <a:spcBef>
                <a:spcPts val="0"/>
              </a:spcBef>
              <a:spcAft>
                <a:spcPts val="0"/>
              </a:spcAft>
            </a:pPr>
            <a:r>
              <a:rPr sz="1800" b="0" i="0">
                <a:solidFill>
                  <a:srgbClr val="1C2B36"/>
                </a:solidFill>
                <a:latin typeface="Calibri"/>
                <a:cs typeface="Calibri"/>
                <a:ea typeface="Calibri"/>
              </a:rPr>
              <a:t>Internal and external economies, diseconomies, and MES.</a:t>
            </a:r>
          </a:p>
        </p:txBody>
      </p:sp>
      <p:sp>
        <p:nvSpPr>
          <p:cNvPr id="24" name="Rectangle 23"/>
          <p:cNvSpPr/>
          <p:nvPr/>
        </p:nvSpPr>
        <p:spPr>
          <a:xfrm>
            <a:off x="384048" y="4773168"/>
            <a:ext cx="11430000" cy="1600200"/>
          </a:xfrm>
          <a:prstGeom prst="rect">
            <a:avLst/>
          </a:prstGeom>
          <a:solidFill>
            <a:srgbClr val="E7F6F4"/>
          </a:solidFill>
          <a:ln>
            <a:noFill/>
          </a:ln>
          <a:effectLst/>
        </p:spPr>
        <p:txBody>
          <a:bodyPr rtlCol="0" anchor="ctr"/>
          <a:lstStyle/>
          <a:p>
            <a:pPr algn="ctr"/>
          </a:p>
        </p:txBody>
      </p:sp>
      <p:sp>
        <p:nvSpPr>
          <p:cNvPr id="25" name="TextBox 24"/>
          <p:cNvSpPr txBox="1"/>
          <p:nvPr/>
        </p:nvSpPr>
        <p:spPr>
          <a:xfrm>
            <a:off x="548640" y="4892040"/>
            <a:ext cx="11064240" cy="365760"/>
          </a:xfrm>
          <a:prstGeom prst="rect">
            <a:avLst/>
          </a:prstGeom>
          <a:noFill/>
        </p:spPr>
        <p:txBody>
          <a:bodyPr wrap="square" lIns="54864" rIns="54864" tIns="36576" bIns="18288" anchor="t"/>
          <a:lstStyle/>
          <a:p>
            <a:pPr algn="l">
              <a:lnSpc>
                <a:spcPct val="105000"/>
              </a:lnSpc>
              <a:spcBef>
                <a:spcPts val="0"/>
              </a:spcBef>
              <a:spcAft>
                <a:spcPts val="0"/>
              </a:spcAft>
            </a:pPr>
            <a:r>
              <a:rPr sz="1800" b="1" i="0">
                <a:solidFill>
                  <a:srgbClr val="182D3D"/>
                </a:solidFill>
                <a:latin typeface="Calibri"/>
                <a:cs typeface="Calibri"/>
                <a:ea typeface="Calibri"/>
              </a:rPr>
              <a:t>Success looks like</a:t>
            </a:r>
          </a:p>
        </p:txBody>
      </p:sp>
      <p:sp>
        <p:nvSpPr>
          <p:cNvPr id="26" name="TextBox 25"/>
          <p:cNvSpPr txBox="1"/>
          <p:nvPr/>
        </p:nvSpPr>
        <p:spPr>
          <a:xfrm>
            <a:off x="548640" y="5303520"/>
            <a:ext cx="11064240" cy="914400"/>
          </a:xfrm>
          <a:prstGeom prst="rect">
            <a:avLst/>
          </a:prstGeom>
          <a:noFill/>
        </p:spPr>
        <p:txBody>
          <a:bodyPr wrap="square" lIns="54864" rIns="54864" tIns="36576" bIns="18288" anchor="t"/>
          <a:lstStyle/>
          <a:p>
            <a:pPr algn="l">
              <a:lnSpc>
                <a:spcPct val="105000"/>
              </a:lnSpc>
              <a:spcBef>
                <a:spcPts val="0"/>
              </a:spcBef>
              <a:spcAft>
                <a:spcPts val="0"/>
              </a:spcAft>
            </a:pPr>
            <a:r>
              <a:rPr sz="1800" b="0" i="0">
                <a:solidFill>
                  <a:srgbClr val="1C2B36"/>
                </a:solidFill>
                <a:latin typeface="Calibri"/>
                <a:cs typeface="Calibri"/>
                <a:ea typeface="Calibri"/>
              </a:rPr>
              <a:t>You can do the table, name the curve, and argue both sides of a merger.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PAST PAPER SCAN</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Where this has been examined</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3/44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2926080" cy="438912"/>
          </a:xfrm>
          <a:prstGeom prst="rect">
            <a:avLst/>
          </a:prstGeom>
          <a:solidFill>
            <a:srgbClr val="182D3D"/>
          </a:solidFill>
          <a:ln>
            <a:noFill/>
          </a:ln>
          <a:effectLst/>
        </p:spPr>
        <p:txBody>
          <a:bodyPr rtlCol="0" anchor="ctr"/>
          <a:lstStyle/>
          <a:p>
            <a:pPr algn="ctr"/>
          </a:p>
        </p:txBody>
      </p:sp>
      <p:sp>
        <p:nvSpPr>
          <p:cNvPr id="10" name="TextBox 9"/>
          <p:cNvSpPr txBox="1"/>
          <p:nvPr/>
        </p:nvSpPr>
        <p:spPr>
          <a:xfrm>
            <a:off x="438912" y="1408176"/>
            <a:ext cx="2834640" cy="365759"/>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FFFFFF"/>
                </a:solidFill>
                <a:latin typeface="Calibri"/>
                <a:cs typeface="Calibri"/>
                <a:ea typeface="Calibri"/>
              </a:rPr>
              <a:t>Paper</a:t>
            </a:r>
          </a:p>
        </p:txBody>
      </p:sp>
      <p:sp>
        <p:nvSpPr>
          <p:cNvPr id="11" name="Rectangle 10"/>
          <p:cNvSpPr/>
          <p:nvPr/>
        </p:nvSpPr>
        <p:spPr>
          <a:xfrm>
            <a:off x="3310128" y="1353312"/>
            <a:ext cx="4754880" cy="438912"/>
          </a:xfrm>
          <a:prstGeom prst="rect">
            <a:avLst/>
          </a:prstGeom>
          <a:solidFill>
            <a:srgbClr val="182D3D"/>
          </a:solidFill>
          <a:ln>
            <a:noFill/>
          </a:ln>
          <a:effectLst/>
        </p:spPr>
        <p:txBody>
          <a:bodyPr rtlCol="0" anchor="ctr"/>
          <a:lstStyle/>
          <a:p>
            <a:pPr algn="ctr"/>
          </a:p>
        </p:txBody>
      </p:sp>
      <p:sp>
        <p:nvSpPr>
          <p:cNvPr id="12" name="TextBox 11"/>
          <p:cNvSpPr txBox="1"/>
          <p:nvPr/>
        </p:nvSpPr>
        <p:spPr>
          <a:xfrm>
            <a:off x="3364992" y="1408176"/>
            <a:ext cx="4663440" cy="365759"/>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FFFFFF"/>
                </a:solidFill>
                <a:latin typeface="Calibri"/>
                <a:cs typeface="Calibri"/>
                <a:ea typeface="Calibri"/>
              </a:rPr>
              <a:t>What was asked</a:t>
            </a:r>
          </a:p>
        </p:txBody>
      </p:sp>
      <p:sp>
        <p:nvSpPr>
          <p:cNvPr id="13" name="Rectangle 12"/>
          <p:cNvSpPr/>
          <p:nvPr/>
        </p:nvSpPr>
        <p:spPr>
          <a:xfrm>
            <a:off x="8065008" y="1353312"/>
            <a:ext cx="3749039" cy="438912"/>
          </a:xfrm>
          <a:prstGeom prst="rect">
            <a:avLst/>
          </a:prstGeom>
          <a:solidFill>
            <a:srgbClr val="182D3D"/>
          </a:solidFill>
          <a:ln>
            <a:noFill/>
          </a:ln>
          <a:effectLst/>
        </p:spPr>
        <p:txBody>
          <a:bodyPr rtlCol="0" anchor="ctr"/>
          <a:lstStyle/>
          <a:p>
            <a:pPr algn="ctr"/>
          </a:p>
        </p:txBody>
      </p:sp>
      <p:sp>
        <p:nvSpPr>
          <p:cNvPr id="14" name="TextBox 13"/>
          <p:cNvSpPr txBox="1"/>
          <p:nvPr/>
        </p:nvSpPr>
        <p:spPr>
          <a:xfrm>
            <a:off x="8119872" y="1408176"/>
            <a:ext cx="3657599" cy="365759"/>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FFFFFF"/>
                </a:solidFill>
                <a:latin typeface="Calibri"/>
                <a:cs typeface="Calibri"/>
                <a:ea typeface="Calibri"/>
              </a:rPr>
              <a:t>What to practise</a:t>
            </a:r>
          </a:p>
        </p:txBody>
      </p:sp>
      <p:sp>
        <p:nvSpPr>
          <p:cNvPr id="15" name="Rectangle 14"/>
          <p:cNvSpPr/>
          <p:nvPr/>
        </p:nvSpPr>
        <p:spPr>
          <a:xfrm>
            <a:off x="384048" y="1792224"/>
            <a:ext cx="2926080" cy="777240"/>
          </a:xfrm>
          <a:prstGeom prst="rect">
            <a:avLst/>
          </a:prstGeom>
          <a:solidFill>
            <a:srgbClr val="FFFFFF"/>
          </a:solidFill>
          <a:ln w="9525">
            <a:solidFill>
              <a:srgbClr val="D5E2E6"/>
            </a:solidFill>
          </a:ln>
          <a:effectLst/>
        </p:spPr>
        <p:txBody>
          <a:bodyPr rtlCol="0" anchor="ctr"/>
          <a:lstStyle/>
          <a:p>
            <a:pPr algn="ctr"/>
          </a:p>
        </p:txBody>
      </p:sp>
      <p:sp>
        <p:nvSpPr>
          <p:cNvPr id="16" name="TextBox 15"/>
          <p:cNvSpPr txBox="1"/>
          <p:nvPr/>
        </p:nvSpPr>
        <p:spPr>
          <a:xfrm>
            <a:off x="438912" y="1828800"/>
            <a:ext cx="28346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TR, AR, MR</a:t>
            </a:r>
          </a:p>
        </p:txBody>
      </p:sp>
      <p:sp>
        <p:nvSpPr>
          <p:cNvPr id="17" name="Rectangle 16"/>
          <p:cNvSpPr/>
          <p:nvPr/>
        </p:nvSpPr>
        <p:spPr>
          <a:xfrm>
            <a:off x="3310128" y="1792224"/>
            <a:ext cx="4754880" cy="777240"/>
          </a:xfrm>
          <a:prstGeom prst="rect">
            <a:avLst/>
          </a:prstGeom>
          <a:solidFill>
            <a:srgbClr val="FFFFFF"/>
          </a:solidFill>
          <a:ln w="9525">
            <a:solidFill>
              <a:srgbClr val="D5E2E6"/>
            </a:solidFill>
          </a:ln>
          <a:effectLst/>
        </p:spPr>
        <p:txBody>
          <a:bodyPr rtlCol="0" anchor="ctr"/>
          <a:lstStyle/>
          <a:p>
            <a:pPr algn="ctr"/>
          </a:p>
        </p:txBody>
      </p:sp>
      <p:sp>
        <p:nvSpPr>
          <p:cNvPr id="18" name="TextBox 17"/>
          <p:cNvSpPr txBox="1"/>
          <p:nvPr/>
        </p:nvSpPr>
        <p:spPr>
          <a:xfrm>
            <a:off x="3364992" y="1828800"/>
            <a:ext cx="46634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Calculate the extra revenue from one more unit.</a:t>
            </a:r>
          </a:p>
        </p:txBody>
      </p:sp>
      <p:sp>
        <p:nvSpPr>
          <p:cNvPr id="19" name="Rectangle 18"/>
          <p:cNvSpPr/>
          <p:nvPr/>
        </p:nvSpPr>
        <p:spPr>
          <a:xfrm>
            <a:off x="8065008" y="1792224"/>
            <a:ext cx="3749039" cy="777240"/>
          </a:xfrm>
          <a:prstGeom prst="rect">
            <a:avLst/>
          </a:prstGeom>
          <a:solidFill>
            <a:srgbClr val="FFFFFF"/>
          </a:solidFill>
          <a:ln w="9525">
            <a:solidFill>
              <a:srgbClr val="D5E2E6"/>
            </a:solidFill>
          </a:ln>
          <a:effectLst/>
        </p:spPr>
        <p:txBody>
          <a:bodyPr rtlCol="0" anchor="ctr"/>
          <a:lstStyle/>
          <a:p>
            <a:pPr algn="ctr"/>
          </a:p>
        </p:txBody>
      </p:sp>
      <p:sp>
        <p:nvSpPr>
          <p:cNvPr id="20" name="TextBox 19"/>
          <p:cNvSpPr txBox="1"/>
          <p:nvPr/>
        </p:nvSpPr>
        <p:spPr>
          <a:xfrm>
            <a:off x="8119872" y="1828800"/>
            <a:ext cx="3657599"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Show ΔTR, not the new price.</a:t>
            </a:r>
          </a:p>
        </p:txBody>
      </p:sp>
      <p:sp>
        <p:nvSpPr>
          <p:cNvPr id="21" name="Rectangle 20"/>
          <p:cNvSpPr/>
          <p:nvPr/>
        </p:nvSpPr>
        <p:spPr>
          <a:xfrm>
            <a:off x="384048" y="2569464"/>
            <a:ext cx="2926080" cy="777240"/>
          </a:xfrm>
          <a:prstGeom prst="rect">
            <a:avLst/>
          </a:prstGeom>
          <a:solidFill>
            <a:srgbClr val="EEF5F6"/>
          </a:solidFill>
          <a:ln w="9525">
            <a:solidFill>
              <a:srgbClr val="D5E2E6"/>
            </a:solidFill>
          </a:ln>
          <a:effectLst/>
        </p:spPr>
        <p:txBody>
          <a:bodyPr rtlCol="0" anchor="ctr"/>
          <a:lstStyle/>
          <a:p>
            <a:pPr algn="ctr"/>
          </a:p>
        </p:txBody>
      </p:sp>
      <p:sp>
        <p:nvSpPr>
          <p:cNvPr id="22" name="TextBox 21"/>
          <p:cNvSpPr txBox="1"/>
          <p:nvPr/>
        </p:nvSpPr>
        <p:spPr>
          <a:xfrm>
            <a:off x="438912" y="2606040"/>
            <a:ext cx="28346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Profit</a:t>
            </a:r>
          </a:p>
        </p:txBody>
      </p:sp>
      <p:sp>
        <p:nvSpPr>
          <p:cNvPr id="23" name="Rectangle 22"/>
          <p:cNvSpPr/>
          <p:nvPr/>
        </p:nvSpPr>
        <p:spPr>
          <a:xfrm>
            <a:off x="3310128" y="2569464"/>
            <a:ext cx="4754880" cy="777240"/>
          </a:xfrm>
          <a:prstGeom prst="rect">
            <a:avLst/>
          </a:prstGeom>
          <a:solidFill>
            <a:srgbClr val="EEF5F6"/>
          </a:solidFill>
          <a:ln w="9525">
            <a:solidFill>
              <a:srgbClr val="D5E2E6"/>
            </a:solidFill>
          </a:ln>
          <a:effectLst/>
        </p:spPr>
        <p:txBody>
          <a:bodyPr rtlCol="0" anchor="ctr"/>
          <a:lstStyle/>
          <a:p>
            <a:pPr algn="ctr"/>
          </a:p>
        </p:txBody>
      </p:sp>
      <p:sp>
        <p:nvSpPr>
          <p:cNvPr id="24" name="TextBox 23"/>
          <p:cNvSpPr txBox="1"/>
          <p:nvPr/>
        </p:nvSpPr>
        <p:spPr>
          <a:xfrm>
            <a:off x="3364992" y="2606040"/>
            <a:ext cx="46634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Find the output, not the highest sales.</a:t>
            </a:r>
          </a:p>
        </p:txBody>
      </p:sp>
      <p:sp>
        <p:nvSpPr>
          <p:cNvPr id="25" name="Rectangle 24"/>
          <p:cNvSpPr/>
          <p:nvPr/>
        </p:nvSpPr>
        <p:spPr>
          <a:xfrm>
            <a:off x="8065008" y="2569464"/>
            <a:ext cx="3749039" cy="777240"/>
          </a:xfrm>
          <a:prstGeom prst="rect">
            <a:avLst/>
          </a:prstGeom>
          <a:solidFill>
            <a:srgbClr val="EEF5F6"/>
          </a:solidFill>
          <a:ln w="9525">
            <a:solidFill>
              <a:srgbClr val="D5E2E6"/>
            </a:solidFill>
          </a:ln>
          <a:effectLst/>
        </p:spPr>
        <p:txBody>
          <a:bodyPr rtlCol="0" anchor="ctr"/>
          <a:lstStyle/>
          <a:p>
            <a:pPr algn="ctr"/>
          </a:p>
        </p:txBody>
      </p:sp>
      <p:sp>
        <p:nvSpPr>
          <p:cNvPr id="26" name="TextBox 25"/>
          <p:cNvSpPr txBox="1"/>
          <p:nvPr/>
        </p:nvSpPr>
        <p:spPr>
          <a:xfrm>
            <a:off x="8119872" y="2606040"/>
            <a:ext cx="3657599"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MC = MR, and MC rising.</a:t>
            </a:r>
          </a:p>
        </p:txBody>
      </p:sp>
      <p:sp>
        <p:nvSpPr>
          <p:cNvPr id="27" name="Rectangle 26"/>
          <p:cNvSpPr/>
          <p:nvPr/>
        </p:nvSpPr>
        <p:spPr>
          <a:xfrm>
            <a:off x="384048" y="3346704"/>
            <a:ext cx="2926080" cy="777240"/>
          </a:xfrm>
          <a:prstGeom prst="rect">
            <a:avLst/>
          </a:prstGeom>
          <a:solidFill>
            <a:srgbClr val="FFFFFF"/>
          </a:solidFill>
          <a:ln w="9525">
            <a:solidFill>
              <a:srgbClr val="D5E2E6"/>
            </a:solidFill>
          </a:ln>
          <a:effectLst/>
        </p:spPr>
        <p:txBody>
          <a:bodyPr rtlCol="0" anchor="ctr"/>
          <a:lstStyle/>
          <a:p>
            <a:pPr algn="ctr"/>
          </a:p>
        </p:txBody>
      </p:sp>
      <p:sp>
        <p:nvSpPr>
          <p:cNvPr id="28" name="TextBox 27"/>
          <p:cNvSpPr txBox="1"/>
          <p:nvPr/>
        </p:nvSpPr>
        <p:spPr>
          <a:xfrm>
            <a:off x="438912" y="3383280"/>
            <a:ext cx="28346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Shutdown</a:t>
            </a:r>
          </a:p>
        </p:txBody>
      </p:sp>
      <p:sp>
        <p:nvSpPr>
          <p:cNvPr id="29" name="Rectangle 28"/>
          <p:cNvSpPr/>
          <p:nvPr/>
        </p:nvSpPr>
        <p:spPr>
          <a:xfrm>
            <a:off x="3310128" y="3346704"/>
            <a:ext cx="4754880" cy="777240"/>
          </a:xfrm>
          <a:prstGeom prst="rect">
            <a:avLst/>
          </a:prstGeom>
          <a:solidFill>
            <a:srgbClr val="FFFFFF"/>
          </a:solidFill>
          <a:ln w="9525">
            <a:solidFill>
              <a:srgbClr val="D5E2E6"/>
            </a:solidFill>
          </a:ln>
          <a:effectLst/>
        </p:spPr>
        <p:txBody>
          <a:bodyPr rtlCol="0" anchor="ctr"/>
          <a:lstStyle/>
          <a:p>
            <a:pPr algn="ctr"/>
          </a:p>
        </p:txBody>
      </p:sp>
      <p:sp>
        <p:nvSpPr>
          <p:cNvPr id="30" name="TextBox 29"/>
          <p:cNvSpPr txBox="1"/>
          <p:nvPr/>
        </p:nvSpPr>
        <p:spPr>
          <a:xfrm>
            <a:off x="3364992" y="3383280"/>
            <a:ext cx="46634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A loss is not always a reason to close.</a:t>
            </a:r>
          </a:p>
        </p:txBody>
      </p:sp>
      <p:sp>
        <p:nvSpPr>
          <p:cNvPr id="31" name="Rectangle 30"/>
          <p:cNvSpPr/>
          <p:nvPr/>
        </p:nvSpPr>
        <p:spPr>
          <a:xfrm>
            <a:off x="8065008" y="3346704"/>
            <a:ext cx="3749039" cy="777240"/>
          </a:xfrm>
          <a:prstGeom prst="rect">
            <a:avLst/>
          </a:prstGeom>
          <a:solidFill>
            <a:srgbClr val="FFFFFF"/>
          </a:solidFill>
          <a:ln w="9525">
            <a:solidFill>
              <a:srgbClr val="D5E2E6"/>
            </a:solidFill>
          </a:ln>
          <a:effectLst/>
        </p:spPr>
        <p:txBody>
          <a:bodyPr rtlCol="0" anchor="ctr"/>
          <a:lstStyle/>
          <a:p>
            <a:pPr algn="ctr"/>
          </a:p>
        </p:txBody>
      </p:sp>
      <p:sp>
        <p:nvSpPr>
          <p:cNvPr id="32" name="TextBox 31"/>
          <p:cNvSpPr txBox="1"/>
          <p:nvPr/>
        </p:nvSpPr>
        <p:spPr>
          <a:xfrm>
            <a:off x="8119872" y="3383280"/>
            <a:ext cx="3657599"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Compare price with AVC, not with AC.</a:t>
            </a:r>
          </a:p>
        </p:txBody>
      </p:sp>
      <p:sp>
        <p:nvSpPr>
          <p:cNvPr id="33" name="Rectangle 32"/>
          <p:cNvSpPr/>
          <p:nvPr/>
        </p:nvSpPr>
        <p:spPr>
          <a:xfrm>
            <a:off x="384048" y="4123944"/>
            <a:ext cx="2926080" cy="777240"/>
          </a:xfrm>
          <a:prstGeom prst="rect">
            <a:avLst/>
          </a:prstGeom>
          <a:solidFill>
            <a:srgbClr val="EEF5F6"/>
          </a:solidFill>
          <a:ln w="9525">
            <a:solidFill>
              <a:srgbClr val="D5E2E6"/>
            </a:solidFill>
          </a:ln>
          <a:effectLst/>
        </p:spPr>
        <p:txBody>
          <a:bodyPr rtlCol="0" anchor="ctr"/>
          <a:lstStyle/>
          <a:p>
            <a:pPr algn="ctr"/>
          </a:p>
        </p:txBody>
      </p:sp>
      <p:sp>
        <p:nvSpPr>
          <p:cNvPr id="34" name="TextBox 33"/>
          <p:cNvSpPr txBox="1"/>
          <p:nvPr/>
        </p:nvSpPr>
        <p:spPr>
          <a:xfrm>
            <a:off x="438912" y="4160520"/>
            <a:ext cx="28346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Scale</a:t>
            </a:r>
          </a:p>
        </p:txBody>
      </p:sp>
      <p:sp>
        <p:nvSpPr>
          <p:cNvPr id="35" name="Rectangle 34"/>
          <p:cNvSpPr/>
          <p:nvPr/>
        </p:nvSpPr>
        <p:spPr>
          <a:xfrm>
            <a:off x="3310128" y="4123944"/>
            <a:ext cx="4754880" cy="777240"/>
          </a:xfrm>
          <a:prstGeom prst="rect">
            <a:avLst/>
          </a:prstGeom>
          <a:solidFill>
            <a:srgbClr val="EEF5F6"/>
          </a:solidFill>
          <a:ln w="9525">
            <a:solidFill>
              <a:srgbClr val="D5E2E6"/>
            </a:solidFill>
          </a:ln>
          <a:effectLst/>
        </p:spPr>
        <p:txBody>
          <a:bodyPr rtlCol="0" anchor="ctr"/>
          <a:lstStyle/>
          <a:p>
            <a:pPr algn="ctr"/>
          </a:p>
        </p:txBody>
      </p:sp>
      <p:sp>
        <p:nvSpPr>
          <p:cNvPr id="36" name="TextBox 35"/>
          <p:cNvSpPr txBox="1"/>
          <p:nvPr/>
        </p:nvSpPr>
        <p:spPr>
          <a:xfrm>
            <a:off x="3364992" y="4160520"/>
            <a:ext cx="46634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Say whose growth caused the lower cost.</a:t>
            </a:r>
          </a:p>
        </p:txBody>
      </p:sp>
      <p:sp>
        <p:nvSpPr>
          <p:cNvPr id="37" name="Rectangle 36"/>
          <p:cNvSpPr/>
          <p:nvPr/>
        </p:nvSpPr>
        <p:spPr>
          <a:xfrm>
            <a:off x="8065008" y="4123944"/>
            <a:ext cx="3749039" cy="777240"/>
          </a:xfrm>
          <a:prstGeom prst="rect">
            <a:avLst/>
          </a:prstGeom>
          <a:solidFill>
            <a:srgbClr val="EEF5F6"/>
          </a:solidFill>
          <a:ln w="9525">
            <a:solidFill>
              <a:srgbClr val="D5E2E6"/>
            </a:solidFill>
          </a:ln>
          <a:effectLst/>
        </p:spPr>
        <p:txBody>
          <a:bodyPr rtlCol="0" anchor="ctr"/>
          <a:lstStyle/>
          <a:p>
            <a:pPr algn="ctr"/>
          </a:p>
        </p:txBody>
      </p:sp>
      <p:sp>
        <p:nvSpPr>
          <p:cNvPr id="38" name="TextBox 37"/>
          <p:cNvSpPr txBox="1"/>
          <p:nvPr/>
        </p:nvSpPr>
        <p:spPr>
          <a:xfrm>
            <a:off x="8119872" y="4160520"/>
            <a:ext cx="3657599"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Internal moves along LRAC. External shifts it.</a:t>
            </a:r>
          </a:p>
        </p:txBody>
      </p:sp>
      <p:sp>
        <p:nvSpPr>
          <p:cNvPr id="39" name="Rectangle 38"/>
          <p:cNvSpPr/>
          <p:nvPr/>
        </p:nvSpPr>
        <p:spPr>
          <a:xfrm>
            <a:off x="384048" y="4901183"/>
            <a:ext cx="2926080" cy="777240"/>
          </a:xfrm>
          <a:prstGeom prst="rect">
            <a:avLst/>
          </a:prstGeom>
          <a:solidFill>
            <a:srgbClr val="FFFFFF"/>
          </a:solidFill>
          <a:ln w="9525">
            <a:solidFill>
              <a:srgbClr val="D5E2E6"/>
            </a:solidFill>
          </a:ln>
          <a:effectLst/>
        </p:spPr>
        <p:txBody>
          <a:bodyPr rtlCol="0" anchor="ctr"/>
          <a:lstStyle/>
          <a:p>
            <a:pPr algn="ctr"/>
          </a:p>
        </p:txBody>
      </p:sp>
      <p:sp>
        <p:nvSpPr>
          <p:cNvPr id="40" name="TextBox 39"/>
          <p:cNvSpPr txBox="1"/>
          <p:nvPr/>
        </p:nvSpPr>
        <p:spPr>
          <a:xfrm>
            <a:off x="438912" y="4937759"/>
            <a:ext cx="28346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Judgement</a:t>
            </a:r>
          </a:p>
        </p:txBody>
      </p:sp>
      <p:sp>
        <p:nvSpPr>
          <p:cNvPr id="41" name="Rectangle 40"/>
          <p:cNvSpPr/>
          <p:nvPr/>
        </p:nvSpPr>
        <p:spPr>
          <a:xfrm>
            <a:off x="3310128" y="4901183"/>
            <a:ext cx="4754880" cy="777240"/>
          </a:xfrm>
          <a:prstGeom prst="rect">
            <a:avLst/>
          </a:prstGeom>
          <a:solidFill>
            <a:srgbClr val="FFFFFF"/>
          </a:solidFill>
          <a:ln w="9525">
            <a:solidFill>
              <a:srgbClr val="D5E2E6"/>
            </a:solidFill>
          </a:ln>
          <a:effectLst/>
        </p:spPr>
        <p:txBody>
          <a:bodyPr rtlCol="0" anchor="ctr"/>
          <a:lstStyle/>
          <a:p>
            <a:pPr algn="ctr"/>
          </a:p>
        </p:txBody>
      </p:sp>
      <p:sp>
        <p:nvSpPr>
          <p:cNvPr id="42" name="TextBox 41"/>
          <p:cNvSpPr txBox="1"/>
          <p:nvPr/>
        </p:nvSpPr>
        <p:spPr>
          <a:xfrm>
            <a:off x="3364992" y="4937759"/>
            <a:ext cx="46634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8, 14 and 20 marks.</a:t>
            </a:r>
          </a:p>
        </p:txBody>
      </p:sp>
      <p:sp>
        <p:nvSpPr>
          <p:cNvPr id="43" name="Rectangle 42"/>
          <p:cNvSpPr/>
          <p:nvPr/>
        </p:nvSpPr>
        <p:spPr>
          <a:xfrm>
            <a:off x="8065008" y="4901183"/>
            <a:ext cx="3749039" cy="777240"/>
          </a:xfrm>
          <a:prstGeom prst="rect">
            <a:avLst/>
          </a:prstGeom>
          <a:solidFill>
            <a:srgbClr val="FFFFFF"/>
          </a:solidFill>
          <a:ln w="9525">
            <a:solidFill>
              <a:srgbClr val="D5E2E6"/>
            </a:solidFill>
          </a:ln>
          <a:effectLst/>
        </p:spPr>
        <p:txBody>
          <a:bodyPr rtlCol="0" anchor="ctr"/>
          <a:lstStyle/>
          <a:p>
            <a:pPr algn="ctr"/>
          </a:p>
        </p:txBody>
      </p:sp>
      <p:sp>
        <p:nvSpPr>
          <p:cNvPr id="44" name="TextBox 43"/>
          <p:cNvSpPr txBox="1"/>
          <p:nvPr/>
        </p:nvSpPr>
        <p:spPr>
          <a:xfrm>
            <a:off x="8119872" y="4937759"/>
            <a:ext cx="3657599"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Both sides, the context, and a diagram when asked.</a:t>
            </a:r>
          </a:p>
        </p:txBody>
      </p:sp>
      <p:sp>
        <p:nvSpPr>
          <p:cNvPr id="45" name="TextBox 44"/>
          <p:cNvSpPr txBox="1"/>
          <p:nvPr/>
        </p:nvSpPr>
        <p:spPr>
          <a:xfrm>
            <a:off x="384048" y="6172200"/>
            <a:ext cx="11430000" cy="365760"/>
          </a:xfrm>
          <a:prstGeom prst="rect">
            <a:avLst/>
          </a:prstGeom>
          <a:noFill/>
        </p:spPr>
        <p:txBody>
          <a:bodyPr wrap="square" lIns="54864" rIns="54864" tIns="36576" bIns="18288" anchor="t"/>
          <a:lstStyle/>
          <a:p>
            <a:pPr algn="l">
              <a:lnSpc>
                <a:spcPct val="105000"/>
              </a:lnSpc>
              <a:spcBef>
                <a:spcPts val="0"/>
              </a:spcBef>
              <a:spcAft>
                <a:spcPts val="0"/>
              </a:spcAft>
            </a:pPr>
            <a:r>
              <a:rPr sz="1200" b="0" i="0">
                <a:solidFill>
                  <a:srgbClr val="5E707A"/>
                </a:solidFill>
                <a:latin typeface="Calibri"/>
                <a:cs typeface="Calibri"/>
                <a:ea typeface="Calibri"/>
              </a:rPr>
              <a:t>Original revision map for specification section 3.3.2. Not a list of real paper questions.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REVENUE</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Three different questions</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4/44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53312"/>
            <a:ext cx="91440" cy="1578864"/>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40080" y="1499616"/>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Total revenue is the money customers pay. If one price is charged, TR = P × Q. Costs are not in it. A firm can have rising revenue and falling profit at the same time.</a:t>
            </a:r>
          </a:p>
        </p:txBody>
      </p:sp>
      <p:sp>
        <p:nvSpPr>
          <p:cNvPr id="12" name="Rectangle 11"/>
          <p:cNvSpPr/>
          <p:nvPr/>
        </p:nvSpPr>
        <p:spPr>
          <a:xfrm>
            <a:off x="384048" y="3078479"/>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3" name="Rectangle 12"/>
          <p:cNvSpPr/>
          <p:nvPr/>
        </p:nvSpPr>
        <p:spPr>
          <a:xfrm>
            <a:off x="384048" y="3078479"/>
            <a:ext cx="91440" cy="1578864"/>
          </a:xfrm>
          <a:prstGeom prst="rect">
            <a:avLst/>
          </a:prstGeom>
          <a:solidFill>
            <a:srgbClr val="55CDC0"/>
          </a:solidFill>
          <a:ln>
            <a:noFill/>
          </a:ln>
          <a:effectLst/>
        </p:spPr>
        <p:txBody>
          <a:bodyPr rtlCol="0" anchor="ctr"/>
          <a:lstStyle/>
          <a:p>
            <a:pPr algn="ctr"/>
          </a:p>
        </p:txBody>
      </p:sp>
      <p:sp>
        <p:nvSpPr>
          <p:cNvPr id="14" name="TextBox 13"/>
          <p:cNvSpPr txBox="1"/>
          <p:nvPr/>
        </p:nvSpPr>
        <p:spPr>
          <a:xfrm>
            <a:off x="640080" y="3224783"/>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Average revenue is TR / Q. When every unit has the same price, average revenue is that price, and the AR curve is the demand curve. Marginal revenue is the change in total revenue from one more unit. It is not the price.</a:t>
            </a:r>
          </a:p>
        </p:txBody>
      </p:sp>
      <p:sp>
        <p:nvSpPr>
          <p:cNvPr id="15" name="Rectangle 14"/>
          <p:cNvSpPr/>
          <p:nvPr/>
        </p:nvSpPr>
        <p:spPr>
          <a:xfrm>
            <a:off x="384048" y="4803648"/>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6" name="Rectangle 15"/>
          <p:cNvSpPr/>
          <p:nvPr/>
        </p:nvSpPr>
        <p:spPr>
          <a:xfrm>
            <a:off x="384048" y="4803648"/>
            <a:ext cx="91440" cy="1578864"/>
          </a:xfrm>
          <a:prstGeom prst="rect">
            <a:avLst/>
          </a:prstGeom>
          <a:solidFill>
            <a:srgbClr val="55CDC0"/>
          </a:solidFill>
          <a:ln>
            <a:noFill/>
          </a:ln>
          <a:effectLst/>
        </p:spPr>
        <p:txBody>
          <a:bodyPr rtlCol="0" anchor="ctr"/>
          <a:lstStyle/>
          <a:p>
            <a:pPr algn="ctr"/>
          </a:p>
        </p:txBody>
      </p:sp>
      <p:sp>
        <p:nvSpPr>
          <p:cNvPr id="17" name="TextBox 16"/>
          <p:cNvSpPr txBox="1"/>
          <p:nvPr/>
        </p:nvSpPr>
        <p:spPr>
          <a:xfrm>
            <a:off x="640080" y="4949952"/>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Do not let pupils say AR is profit.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WORKED NUMBERS</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The fifth unit brings in $18</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5/44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1051560"/>
          </a:xfrm>
          <a:prstGeom prst="rect">
            <a:avLst/>
          </a:prstGeom>
          <a:solidFill>
            <a:srgbClr val="E7F6F4"/>
          </a:solidFill>
          <a:ln>
            <a:noFill/>
          </a:ln>
          <a:effectLst/>
        </p:spPr>
        <p:txBody>
          <a:bodyPr rtlCol="0" anchor="ctr"/>
          <a:lstStyle/>
          <a:p>
            <a:pPr algn="ctr"/>
          </a:p>
        </p:txBody>
      </p:sp>
      <p:sp>
        <p:nvSpPr>
          <p:cNvPr id="10" name="TextBox 9"/>
          <p:cNvSpPr txBox="1"/>
          <p:nvPr/>
        </p:nvSpPr>
        <p:spPr>
          <a:xfrm>
            <a:off x="566928" y="1481328"/>
            <a:ext cx="11064240" cy="82296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Total revenue is $112 at 4 units and $130 at 5 units.</a:t>
            </a:r>
          </a:p>
        </p:txBody>
      </p:sp>
      <p:sp>
        <p:nvSpPr>
          <p:cNvPr id="11" name="Rectangle 10"/>
          <p:cNvSpPr/>
          <p:nvPr/>
        </p:nvSpPr>
        <p:spPr>
          <a:xfrm>
            <a:off x="384048" y="2560320"/>
            <a:ext cx="11430000" cy="658368"/>
          </a:xfrm>
          <a:prstGeom prst="rect">
            <a:avLst/>
          </a:prstGeom>
          <a:solidFill>
            <a:srgbClr val="FFFFFF"/>
          </a:solidFill>
          <a:ln w="12700">
            <a:solidFill>
              <a:srgbClr val="D5E2E6"/>
            </a:solidFill>
          </a:ln>
          <a:effectLst/>
        </p:spPr>
        <p:txBody>
          <a:bodyPr rtlCol="0" anchor="ctr"/>
          <a:lstStyle/>
          <a:p>
            <a:pPr algn="ctr"/>
          </a:p>
        </p:txBody>
      </p:sp>
      <p:sp>
        <p:nvSpPr>
          <p:cNvPr id="12" name="TextBox 11"/>
          <p:cNvSpPr txBox="1"/>
          <p:nvPr/>
        </p:nvSpPr>
        <p:spPr>
          <a:xfrm>
            <a:off x="566928" y="2688336"/>
            <a:ext cx="11064240" cy="438912"/>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MR = (130 − 112) / 1</a:t>
            </a:r>
          </a:p>
        </p:txBody>
      </p:sp>
      <p:sp>
        <p:nvSpPr>
          <p:cNvPr id="13" name="Rectangle 12"/>
          <p:cNvSpPr/>
          <p:nvPr/>
        </p:nvSpPr>
        <p:spPr>
          <a:xfrm>
            <a:off x="384048" y="3310127"/>
            <a:ext cx="11430000" cy="658368"/>
          </a:xfrm>
          <a:prstGeom prst="rect">
            <a:avLst/>
          </a:prstGeom>
          <a:solidFill>
            <a:srgbClr val="FFFFFF"/>
          </a:solidFill>
          <a:ln w="12700">
            <a:solidFill>
              <a:srgbClr val="D5E2E6"/>
            </a:solidFill>
          </a:ln>
          <a:effectLst/>
        </p:spPr>
        <p:txBody>
          <a:bodyPr rtlCol="0" anchor="ctr"/>
          <a:lstStyle/>
          <a:p>
            <a:pPr algn="ctr"/>
          </a:p>
        </p:txBody>
      </p:sp>
      <p:sp>
        <p:nvSpPr>
          <p:cNvPr id="14" name="TextBox 13"/>
          <p:cNvSpPr txBox="1"/>
          <p:nvPr/>
        </p:nvSpPr>
        <p:spPr>
          <a:xfrm>
            <a:off x="566928" y="3438144"/>
            <a:ext cx="11064240" cy="438912"/>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MR = $18</a:t>
            </a:r>
          </a:p>
        </p:txBody>
      </p:sp>
      <p:sp>
        <p:nvSpPr>
          <p:cNvPr id="15" name="Rectangle 14"/>
          <p:cNvSpPr/>
          <p:nvPr/>
        </p:nvSpPr>
        <p:spPr>
          <a:xfrm>
            <a:off x="384048" y="4059935"/>
            <a:ext cx="11430000" cy="658368"/>
          </a:xfrm>
          <a:prstGeom prst="rect">
            <a:avLst/>
          </a:prstGeom>
          <a:solidFill>
            <a:srgbClr val="FFFFFF"/>
          </a:solidFill>
          <a:ln w="12700">
            <a:solidFill>
              <a:srgbClr val="D5E2E6"/>
            </a:solidFill>
          </a:ln>
          <a:effectLst/>
        </p:spPr>
        <p:txBody>
          <a:bodyPr rtlCol="0" anchor="ctr"/>
          <a:lstStyle/>
          <a:p>
            <a:pPr algn="ctr"/>
          </a:p>
        </p:txBody>
      </p:sp>
      <p:sp>
        <p:nvSpPr>
          <p:cNvPr id="16" name="TextBox 15"/>
          <p:cNvSpPr txBox="1"/>
          <p:nvPr/>
        </p:nvSpPr>
        <p:spPr>
          <a:xfrm>
            <a:off x="566928" y="4187951"/>
            <a:ext cx="11064240" cy="438912"/>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The price of the fifth unit is not $18.</a:t>
            </a:r>
          </a:p>
        </p:txBody>
      </p:sp>
      <p:sp>
        <p:nvSpPr>
          <p:cNvPr id="17" name="TextBox 16"/>
          <p:cNvSpPr txBox="1"/>
          <p:nvPr/>
        </p:nvSpPr>
        <p:spPr>
          <a:xfrm>
            <a:off x="457200" y="5806440"/>
            <a:ext cx="11247120" cy="640080"/>
          </a:xfrm>
          <a:prstGeom prst="rect">
            <a:avLst/>
          </a:prstGeom>
          <a:noFill/>
        </p:spPr>
        <p:txBody>
          <a:bodyPr wrap="square" lIns="54864" rIns="54864" tIns="36576" bIns="18288" anchor="t"/>
          <a:lstStyle/>
          <a:p>
            <a:pPr algn="l">
              <a:lnSpc>
                <a:spcPct val="105000"/>
              </a:lnSpc>
              <a:spcBef>
                <a:spcPts val="0"/>
              </a:spcBef>
              <a:spcAft>
                <a:spcPts val="0"/>
              </a:spcAft>
            </a:pPr>
            <a:r>
              <a:rPr sz="1800" b="0" i="0">
                <a:solidFill>
                  <a:srgbClr val="1C2B36"/>
                </a:solidFill>
                <a:latin typeface="Calibri"/>
                <a:cs typeface="Calibri"/>
                <a:ea typeface="Calibri"/>
              </a:rPr>
              <a:t>Full marks for $18 alone. One mark for 130 − 112 with no conclusion.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THE TABLE</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Profit is highest at 4 units</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6/44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463040" cy="438912"/>
          </a:xfrm>
          <a:prstGeom prst="rect">
            <a:avLst/>
          </a:prstGeom>
          <a:solidFill>
            <a:srgbClr val="182D3D"/>
          </a:solidFill>
          <a:ln>
            <a:noFill/>
          </a:ln>
          <a:effectLst/>
        </p:spPr>
        <p:txBody>
          <a:bodyPr rtlCol="0" anchor="ctr"/>
          <a:lstStyle/>
          <a:p>
            <a:pPr algn="ctr"/>
          </a:p>
        </p:txBody>
      </p:sp>
      <p:sp>
        <p:nvSpPr>
          <p:cNvPr id="10" name="TextBox 9"/>
          <p:cNvSpPr txBox="1"/>
          <p:nvPr/>
        </p:nvSpPr>
        <p:spPr>
          <a:xfrm>
            <a:off x="438912" y="1408176"/>
            <a:ext cx="1371600" cy="365759"/>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FFFFFF"/>
                </a:solidFill>
                <a:latin typeface="Calibri"/>
                <a:cs typeface="Calibri"/>
                <a:ea typeface="Calibri"/>
              </a:rPr>
              <a:t>Q</a:t>
            </a:r>
          </a:p>
        </p:txBody>
      </p:sp>
      <p:sp>
        <p:nvSpPr>
          <p:cNvPr id="11" name="Rectangle 10"/>
          <p:cNvSpPr/>
          <p:nvPr/>
        </p:nvSpPr>
        <p:spPr>
          <a:xfrm>
            <a:off x="1847088" y="1353312"/>
            <a:ext cx="1828800" cy="438912"/>
          </a:xfrm>
          <a:prstGeom prst="rect">
            <a:avLst/>
          </a:prstGeom>
          <a:solidFill>
            <a:srgbClr val="182D3D"/>
          </a:solidFill>
          <a:ln>
            <a:noFill/>
          </a:ln>
          <a:effectLst/>
        </p:spPr>
        <p:txBody>
          <a:bodyPr rtlCol="0" anchor="ctr"/>
          <a:lstStyle/>
          <a:p>
            <a:pPr algn="ctr"/>
          </a:p>
        </p:txBody>
      </p:sp>
      <p:sp>
        <p:nvSpPr>
          <p:cNvPr id="12" name="TextBox 11"/>
          <p:cNvSpPr txBox="1"/>
          <p:nvPr/>
        </p:nvSpPr>
        <p:spPr>
          <a:xfrm>
            <a:off x="1901952" y="1408176"/>
            <a:ext cx="1737360" cy="365759"/>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FFFFFF"/>
                </a:solidFill>
                <a:latin typeface="Calibri"/>
                <a:cs typeface="Calibri"/>
                <a:ea typeface="Calibri"/>
              </a:rPr>
              <a:t>TR</a:t>
            </a:r>
          </a:p>
        </p:txBody>
      </p:sp>
      <p:sp>
        <p:nvSpPr>
          <p:cNvPr id="13" name="Rectangle 12"/>
          <p:cNvSpPr/>
          <p:nvPr/>
        </p:nvSpPr>
        <p:spPr>
          <a:xfrm>
            <a:off x="3675887" y="1353312"/>
            <a:ext cx="1828800" cy="438912"/>
          </a:xfrm>
          <a:prstGeom prst="rect">
            <a:avLst/>
          </a:prstGeom>
          <a:solidFill>
            <a:srgbClr val="182D3D"/>
          </a:solidFill>
          <a:ln>
            <a:noFill/>
          </a:ln>
          <a:effectLst/>
        </p:spPr>
        <p:txBody>
          <a:bodyPr rtlCol="0" anchor="ctr"/>
          <a:lstStyle/>
          <a:p>
            <a:pPr algn="ctr"/>
          </a:p>
        </p:txBody>
      </p:sp>
      <p:sp>
        <p:nvSpPr>
          <p:cNvPr id="14" name="TextBox 13"/>
          <p:cNvSpPr txBox="1"/>
          <p:nvPr/>
        </p:nvSpPr>
        <p:spPr>
          <a:xfrm>
            <a:off x="3730751" y="1408176"/>
            <a:ext cx="1737360" cy="365759"/>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FFFFFF"/>
                </a:solidFill>
                <a:latin typeface="Calibri"/>
                <a:cs typeface="Calibri"/>
                <a:ea typeface="Calibri"/>
              </a:rPr>
              <a:t>MR</a:t>
            </a:r>
          </a:p>
        </p:txBody>
      </p:sp>
      <p:sp>
        <p:nvSpPr>
          <p:cNvPr id="15" name="Rectangle 14"/>
          <p:cNvSpPr/>
          <p:nvPr/>
        </p:nvSpPr>
        <p:spPr>
          <a:xfrm>
            <a:off x="5504688" y="1353312"/>
            <a:ext cx="2011680" cy="438912"/>
          </a:xfrm>
          <a:prstGeom prst="rect">
            <a:avLst/>
          </a:prstGeom>
          <a:solidFill>
            <a:srgbClr val="182D3D"/>
          </a:solidFill>
          <a:ln>
            <a:noFill/>
          </a:ln>
          <a:effectLst/>
        </p:spPr>
        <p:txBody>
          <a:bodyPr rtlCol="0" anchor="ctr"/>
          <a:lstStyle/>
          <a:p>
            <a:pPr algn="ctr"/>
          </a:p>
        </p:txBody>
      </p:sp>
      <p:sp>
        <p:nvSpPr>
          <p:cNvPr id="16" name="TextBox 15"/>
          <p:cNvSpPr txBox="1"/>
          <p:nvPr/>
        </p:nvSpPr>
        <p:spPr>
          <a:xfrm>
            <a:off x="5559551" y="1408176"/>
            <a:ext cx="1920240" cy="365759"/>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FFFFFF"/>
                </a:solidFill>
                <a:latin typeface="Calibri"/>
                <a:cs typeface="Calibri"/>
                <a:ea typeface="Calibri"/>
              </a:rPr>
              <a:t>TC</a:t>
            </a:r>
          </a:p>
        </p:txBody>
      </p:sp>
      <p:sp>
        <p:nvSpPr>
          <p:cNvPr id="17" name="Rectangle 16"/>
          <p:cNvSpPr/>
          <p:nvPr/>
        </p:nvSpPr>
        <p:spPr>
          <a:xfrm>
            <a:off x="7516367" y="1353312"/>
            <a:ext cx="2011680" cy="438912"/>
          </a:xfrm>
          <a:prstGeom prst="rect">
            <a:avLst/>
          </a:prstGeom>
          <a:solidFill>
            <a:srgbClr val="182D3D"/>
          </a:solidFill>
          <a:ln>
            <a:noFill/>
          </a:ln>
          <a:effectLst/>
        </p:spPr>
        <p:txBody>
          <a:bodyPr rtlCol="0" anchor="ctr"/>
          <a:lstStyle/>
          <a:p>
            <a:pPr algn="ctr"/>
          </a:p>
        </p:txBody>
      </p:sp>
      <p:sp>
        <p:nvSpPr>
          <p:cNvPr id="18" name="TextBox 17"/>
          <p:cNvSpPr txBox="1"/>
          <p:nvPr/>
        </p:nvSpPr>
        <p:spPr>
          <a:xfrm>
            <a:off x="7571231" y="1408176"/>
            <a:ext cx="1920240" cy="365759"/>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FFFFFF"/>
                </a:solidFill>
                <a:latin typeface="Calibri"/>
                <a:cs typeface="Calibri"/>
                <a:ea typeface="Calibri"/>
              </a:rPr>
              <a:t>MC</a:t>
            </a:r>
          </a:p>
        </p:txBody>
      </p:sp>
      <p:sp>
        <p:nvSpPr>
          <p:cNvPr id="19" name="Rectangle 18"/>
          <p:cNvSpPr/>
          <p:nvPr/>
        </p:nvSpPr>
        <p:spPr>
          <a:xfrm>
            <a:off x="9528047" y="1353312"/>
            <a:ext cx="2286000" cy="438912"/>
          </a:xfrm>
          <a:prstGeom prst="rect">
            <a:avLst/>
          </a:prstGeom>
          <a:solidFill>
            <a:srgbClr val="182D3D"/>
          </a:solidFill>
          <a:ln>
            <a:noFill/>
          </a:ln>
          <a:effectLst/>
        </p:spPr>
        <p:txBody>
          <a:bodyPr rtlCol="0" anchor="ctr"/>
          <a:lstStyle/>
          <a:p>
            <a:pPr algn="ctr"/>
          </a:p>
        </p:txBody>
      </p:sp>
      <p:sp>
        <p:nvSpPr>
          <p:cNvPr id="20" name="TextBox 19"/>
          <p:cNvSpPr txBox="1"/>
          <p:nvPr/>
        </p:nvSpPr>
        <p:spPr>
          <a:xfrm>
            <a:off x="9582911" y="1408176"/>
            <a:ext cx="2194560" cy="365759"/>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FFFFFF"/>
                </a:solidFill>
                <a:latin typeface="Calibri"/>
                <a:cs typeface="Calibri"/>
                <a:ea typeface="Calibri"/>
              </a:rPr>
              <a:t>Profit</a:t>
            </a:r>
          </a:p>
        </p:txBody>
      </p:sp>
      <p:sp>
        <p:nvSpPr>
          <p:cNvPr id="21" name="Rectangle 20"/>
          <p:cNvSpPr/>
          <p:nvPr/>
        </p:nvSpPr>
        <p:spPr>
          <a:xfrm>
            <a:off x="384048" y="1792224"/>
            <a:ext cx="1463040" cy="777240"/>
          </a:xfrm>
          <a:prstGeom prst="rect">
            <a:avLst/>
          </a:prstGeom>
          <a:solidFill>
            <a:srgbClr val="FFFFFF"/>
          </a:solidFill>
          <a:ln w="9525">
            <a:solidFill>
              <a:srgbClr val="D5E2E6"/>
            </a:solidFill>
          </a:ln>
          <a:effectLst/>
        </p:spPr>
        <p:txBody>
          <a:bodyPr rtlCol="0" anchor="ctr"/>
          <a:lstStyle/>
          <a:p>
            <a:pPr algn="ctr"/>
          </a:p>
        </p:txBody>
      </p:sp>
      <p:sp>
        <p:nvSpPr>
          <p:cNvPr id="22" name="TextBox 21"/>
          <p:cNvSpPr txBox="1"/>
          <p:nvPr/>
        </p:nvSpPr>
        <p:spPr>
          <a:xfrm>
            <a:off x="438912" y="1828800"/>
            <a:ext cx="137160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3</a:t>
            </a:r>
          </a:p>
        </p:txBody>
      </p:sp>
      <p:sp>
        <p:nvSpPr>
          <p:cNvPr id="23" name="Rectangle 22"/>
          <p:cNvSpPr/>
          <p:nvPr/>
        </p:nvSpPr>
        <p:spPr>
          <a:xfrm>
            <a:off x="1847088" y="1792224"/>
            <a:ext cx="1828800" cy="777240"/>
          </a:xfrm>
          <a:prstGeom prst="rect">
            <a:avLst/>
          </a:prstGeom>
          <a:solidFill>
            <a:srgbClr val="FFFFFF"/>
          </a:solidFill>
          <a:ln w="9525">
            <a:solidFill>
              <a:srgbClr val="D5E2E6"/>
            </a:solidFill>
          </a:ln>
          <a:effectLst/>
        </p:spPr>
        <p:txBody>
          <a:bodyPr rtlCol="0" anchor="ctr"/>
          <a:lstStyle/>
          <a:p>
            <a:pPr algn="ctr"/>
          </a:p>
        </p:txBody>
      </p:sp>
      <p:sp>
        <p:nvSpPr>
          <p:cNvPr id="24" name="TextBox 23"/>
          <p:cNvSpPr txBox="1"/>
          <p:nvPr/>
        </p:nvSpPr>
        <p:spPr>
          <a:xfrm>
            <a:off x="1901952" y="1828800"/>
            <a:ext cx="17373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90</a:t>
            </a:r>
          </a:p>
        </p:txBody>
      </p:sp>
      <p:sp>
        <p:nvSpPr>
          <p:cNvPr id="25" name="Rectangle 24"/>
          <p:cNvSpPr/>
          <p:nvPr/>
        </p:nvSpPr>
        <p:spPr>
          <a:xfrm>
            <a:off x="3675887" y="1792224"/>
            <a:ext cx="1828800" cy="777240"/>
          </a:xfrm>
          <a:prstGeom prst="rect">
            <a:avLst/>
          </a:prstGeom>
          <a:solidFill>
            <a:srgbClr val="FFFFFF"/>
          </a:solidFill>
          <a:ln w="9525">
            <a:solidFill>
              <a:srgbClr val="D5E2E6"/>
            </a:solidFill>
          </a:ln>
          <a:effectLst/>
        </p:spPr>
        <p:txBody>
          <a:bodyPr rtlCol="0" anchor="ctr"/>
          <a:lstStyle/>
          <a:p>
            <a:pPr algn="ctr"/>
          </a:p>
        </p:txBody>
      </p:sp>
      <p:sp>
        <p:nvSpPr>
          <p:cNvPr id="26" name="TextBox 25"/>
          <p:cNvSpPr txBox="1"/>
          <p:nvPr/>
        </p:nvSpPr>
        <p:spPr>
          <a:xfrm>
            <a:off x="3730751" y="1828800"/>
            <a:ext cx="17373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a:t>
            </a:r>
          </a:p>
        </p:txBody>
      </p:sp>
      <p:sp>
        <p:nvSpPr>
          <p:cNvPr id="27" name="Rectangle 26"/>
          <p:cNvSpPr/>
          <p:nvPr/>
        </p:nvSpPr>
        <p:spPr>
          <a:xfrm>
            <a:off x="5504688" y="1792224"/>
            <a:ext cx="2011680" cy="777240"/>
          </a:xfrm>
          <a:prstGeom prst="rect">
            <a:avLst/>
          </a:prstGeom>
          <a:solidFill>
            <a:srgbClr val="FFFFFF"/>
          </a:solidFill>
          <a:ln w="9525">
            <a:solidFill>
              <a:srgbClr val="D5E2E6"/>
            </a:solidFill>
          </a:ln>
          <a:effectLst/>
        </p:spPr>
        <p:txBody>
          <a:bodyPr rtlCol="0" anchor="ctr"/>
          <a:lstStyle/>
          <a:p>
            <a:pPr algn="ctr"/>
          </a:p>
        </p:txBody>
      </p:sp>
      <p:sp>
        <p:nvSpPr>
          <p:cNvPr id="28" name="TextBox 27"/>
          <p:cNvSpPr txBox="1"/>
          <p:nvPr/>
        </p:nvSpPr>
        <p:spPr>
          <a:xfrm>
            <a:off x="5559551" y="1828800"/>
            <a:ext cx="19202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84</a:t>
            </a:r>
          </a:p>
        </p:txBody>
      </p:sp>
      <p:sp>
        <p:nvSpPr>
          <p:cNvPr id="29" name="Rectangle 28"/>
          <p:cNvSpPr/>
          <p:nvPr/>
        </p:nvSpPr>
        <p:spPr>
          <a:xfrm>
            <a:off x="7516367" y="1792224"/>
            <a:ext cx="2011680" cy="777240"/>
          </a:xfrm>
          <a:prstGeom prst="rect">
            <a:avLst/>
          </a:prstGeom>
          <a:solidFill>
            <a:srgbClr val="FFFFFF"/>
          </a:solidFill>
          <a:ln w="9525">
            <a:solidFill>
              <a:srgbClr val="D5E2E6"/>
            </a:solidFill>
          </a:ln>
          <a:effectLst/>
        </p:spPr>
        <p:txBody>
          <a:bodyPr rtlCol="0" anchor="ctr"/>
          <a:lstStyle/>
          <a:p>
            <a:pPr algn="ctr"/>
          </a:p>
        </p:txBody>
      </p:sp>
      <p:sp>
        <p:nvSpPr>
          <p:cNvPr id="30" name="TextBox 29"/>
          <p:cNvSpPr txBox="1"/>
          <p:nvPr/>
        </p:nvSpPr>
        <p:spPr>
          <a:xfrm>
            <a:off x="7571231" y="1828800"/>
            <a:ext cx="19202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a:t>
            </a:r>
          </a:p>
        </p:txBody>
      </p:sp>
      <p:sp>
        <p:nvSpPr>
          <p:cNvPr id="31" name="Rectangle 30"/>
          <p:cNvSpPr/>
          <p:nvPr/>
        </p:nvSpPr>
        <p:spPr>
          <a:xfrm>
            <a:off x="9528047" y="1792224"/>
            <a:ext cx="2286000" cy="777240"/>
          </a:xfrm>
          <a:prstGeom prst="rect">
            <a:avLst/>
          </a:prstGeom>
          <a:solidFill>
            <a:srgbClr val="FFFFFF"/>
          </a:solidFill>
          <a:ln w="9525">
            <a:solidFill>
              <a:srgbClr val="D5E2E6"/>
            </a:solidFill>
          </a:ln>
          <a:effectLst/>
        </p:spPr>
        <p:txBody>
          <a:bodyPr rtlCol="0" anchor="ctr"/>
          <a:lstStyle/>
          <a:p>
            <a:pPr algn="ctr"/>
          </a:p>
        </p:txBody>
      </p:sp>
      <p:sp>
        <p:nvSpPr>
          <p:cNvPr id="32" name="TextBox 31"/>
          <p:cNvSpPr txBox="1"/>
          <p:nvPr/>
        </p:nvSpPr>
        <p:spPr>
          <a:xfrm>
            <a:off x="9582911" y="1828800"/>
            <a:ext cx="21945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6</a:t>
            </a:r>
          </a:p>
        </p:txBody>
      </p:sp>
      <p:sp>
        <p:nvSpPr>
          <p:cNvPr id="33" name="Rectangle 32"/>
          <p:cNvSpPr/>
          <p:nvPr/>
        </p:nvSpPr>
        <p:spPr>
          <a:xfrm>
            <a:off x="384048" y="2569464"/>
            <a:ext cx="1463040" cy="777240"/>
          </a:xfrm>
          <a:prstGeom prst="rect">
            <a:avLst/>
          </a:prstGeom>
          <a:solidFill>
            <a:srgbClr val="EEF5F6"/>
          </a:solidFill>
          <a:ln w="9525">
            <a:solidFill>
              <a:srgbClr val="D5E2E6"/>
            </a:solidFill>
          </a:ln>
          <a:effectLst/>
        </p:spPr>
        <p:txBody>
          <a:bodyPr rtlCol="0" anchor="ctr"/>
          <a:lstStyle/>
          <a:p>
            <a:pPr algn="ctr"/>
          </a:p>
        </p:txBody>
      </p:sp>
      <p:sp>
        <p:nvSpPr>
          <p:cNvPr id="34" name="TextBox 33"/>
          <p:cNvSpPr txBox="1"/>
          <p:nvPr/>
        </p:nvSpPr>
        <p:spPr>
          <a:xfrm>
            <a:off x="438912" y="2606040"/>
            <a:ext cx="137160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4</a:t>
            </a:r>
          </a:p>
        </p:txBody>
      </p:sp>
      <p:sp>
        <p:nvSpPr>
          <p:cNvPr id="35" name="Rectangle 34"/>
          <p:cNvSpPr/>
          <p:nvPr/>
        </p:nvSpPr>
        <p:spPr>
          <a:xfrm>
            <a:off x="1847088" y="2569464"/>
            <a:ext cx="1828800" cy="777240"/>
          </a:xfrm>
          <a:prstGeom prst="rect">
            <a:avLst/>
          </a:prstGeom>
          <a:solidFill>
            <a:srgbClr val="EEF5F6"/>
          </a:solidFill>
          <a:ln w="9525">
            <a:solidFill>
              <a:srgbClr val="D5E2E6"/>
            </a:solidFill>
          </a:ln>
          <a:effectLst/>
        </p:spPr>
        <p:txBody>
          <a:bodyPr rtlCol="0" anchor="ctr"/>
          <a:lstStyle/>
          <a:p>
            <a:pPr algn="ctr"/>
          </a:p>
        </p:txBody>
      </p:sp>
      <p:sp>
        <p:nvSpPr>
          <p:cNvPr id="36" name="TextBox 35"/>
          <p:cNvSpPr txBox="1"/>
          <p:nvPr/>
        </p:nvSpPr>
        <p:spPr>
          <a:xfrm>
            <a:off x="1901952" y="2606040"/>
            <a:ext cx="17373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112</a:t>
            </a:r>
          </a:p>
        </p:txBody>
      </p:sp>
      <p:sp>
        <p:nvSpPr>
          <p:cNvPr id="37" name="Rectangle 36"/>
          <p:cNvSpPr/>
          <p:nvPr/>
        </p:nvSpPr>
        <p:spPr>
          <a:xfrm>
            <a:off x="3675887" y="2569464"/>
            <a:ext cx="1828800" cy="777240"/>
          </a:xfrm>
          <a:prstGeom prst="rect">
            <a:avLst/>
          </a:prstGeom>
          <a:solidFill>
            <a:srgbClr val="EEF5F6"/>
          </a:solidFill>
          <a:ln w="9525">
            <a:solidFill>
              <a:srgbClr val="D5E2E6"/>
            </a:solidFill>
          </a:ln>
          <a:effectLst/>
        </p:spPr>
        <p:txBody>
          <a:bodyPr rtlCol="0" anchor="ctr"/>
          <a:lstStyle/>
          <a:p>
            <a:pPr algn="ctr"/>
          </a:p>
        </p:txBody>
      </p:sp>
      <p:sp>
        <p:nvSpPr>
          <p:cNvPr id="38" name="TextBox 37"/>
          <p:cNvSpPr txBox="1"/>
          <p:nvPr/>
        </p:nvSpPr>
        <p:spPr>
          <a:xfrm>
            <a:off x="3730751" y="2606040"/>
            <a:ext cx="17373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22</a:t>
            </a:r>
          </a:p>
        </p:txBody>
      </p:sp>
      <p:sp>
        <p:nvSpPr>
          <p:cNvPr id="39" name="Rectangle 38"/>
          <p:cNvSpPr/>
          <p:nvPr/>
        </p:nvSpPr>
        <p:spPr>
          <a:xfrm>
            <a:off x="5504688" y="2569464"/>
            <a:ext cx="2011680" cy="777240"/>
          </a:xfrm>
          <a:prstGeom prst="rect">
            <a:avLst/>
          </a:prstGeom>
          <a:solidFill>
            <a:srgbClr val="EEF5F6"/>
          </a:solidFill>
          <a:ln w="9525">
            <a:solidFill>
              <a:srgbClr val="D5E2E6"/>
            </a:solidFill>
          </a:ln>
          <a:effectLst/>
        </p:spPr>
        <p:txBody>
          <a:bodyPr rtlCol="0" anchor="ctr"/>
          <a:lstStyle/>
          <a:p>
            <a:pPr algn="ctr"/>
          </a:p>
        </p:txBody>
      </p:sp>
      <p:sp>
        <p:nvSpPr>
          <p:cNvPr id="40" name="TextBox 39"/>
          <p:cNvSpPr txBox="1"/>
          <p:nvPr/>
        </p:nvSpPr>
        <p:spPr>
          <a:xfrm>
            <a:off x="5559551" y="2606040"/>
            <a:ext cx="19202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100</a:t>
            </a:r>
          </a:p>
        </p:txBody>
      </p:sp>
      <p:sp>
        <p:nvSpPr>
          <p:cNvPr id="41" name="Rectangle 40"/>
          <p:cNvSpPr/>
          <p:nvPr/>
        </p:nvSpPr>
        <p:spPr>
          <a:xfrm>
            <a:off x="7516367" y="2569464"/>
            <a:ext cx="2011680" cy="777240"/>
          </a:xfrm>
          <a:prstGeom prst="rect">
            <a:avLst/>
          </a:prstGeom>
          <a:solidFill>
            <a:srgbClr val="EEF5F6"/>
          </a:solidFill>
          <a:ln w="9525">
            <a:solidFill>
              <a:srgbClr val="D5E2E6"/>
            </a:solidFill>
          </a:ln>
          <a:effectLst/>
        </p:spPr>
        <p:txBody>
          <a:bodyPr rtlCol="0" anchor="ctr"/>
          <a:lstStyle/>
          <a:p>
            <a:pPr algn="ctr"/>
          </a:p>
        </p:txBody>
      </p:sp>
      <p:sp>
        <p:nvSpPr>
          <p:cNvPr id="42" name="TextBox 41"/>
          <p:cNvSpPr txBox="1"/>
          <p:nvPr/>
        </p:nvSpPr>
        <p:spPr>
          <a:xfrm>
            <a:off x="7571231" y="2606040"/>
            <a:ext cx="19202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16</a:t>
            </a:r>
          </a:p>
        </p:txBody>
      </p:sp>
      <p:sp>
        <p:nvSpPr>
          <p:cNvPr id="43" name="Rectangle 42"/>
          <p:cNvSpPr/>
          <p:nvPr/>
        </p:nvSpPr>
        <p:spPr>
          <a:xfrm>
            <a:off x="9528047" y="2569464"/>
            <a:ext cx="2286000" cy="777240"/>
          </a:xfrm>
          <a:prstGeom prst="rect">
            <a:avLst/>
          </a:prstGeom>
          <a:solidFill>
            <a:srgbClr val="EEF5F6"/>
          </a:solidFill>
          <a:ln w="9525">
            <a:solidFill>
              <a:srgbClr val="D5E2E6"/>
            </a:solidFill>
          </a:ln>
          <a:effectLst/>
        </p:spPr>
        <p:txBody>
          <a:bodyPr rtlCol="0" anchor="ctr"/>
          <a:lstStyle/>
          <a:p>
            <a:pPr algn="ctr"/>
          </a:p>
        </p:txBody>
      </p:sp>
      <p:sp>
        <p:nvSpPr>
          <p:cNvPr id="44" name="TextBox 43"/>
          <p:cNvSpPr txBox="1"/>
          <p:nvPr/>
        </p:nvSpPr>
        <p:spPr>
          <a:xfrm>
            <a:off x="9582911" y="2606040"/>
            <a:ext cx="21945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12</a:t>
            </a:r>
          </a:p>
        </p:txBody>
      </p:sp>
      <p:sp>
        <p:nvSpPr>
          <p:cNvPr id="45" name="Rectangle 44"/>
          <p:cNvSpPr/>
          <p:nvPr/>
        </p:nvSpPr>
        <p:spPr>
          <a:xfrm>
            <a:off x="384048" y="3346704"/>
            <a:ext cx="1463040" cy="777240"/>
          </a:xfrm>
          <a:prstGeom prst="rect">
            <a:avLst/>
          </a:prstGeom>
          <a:solidFill>
            <a:srgbClr val="FFFFFF"/>
          </a:solidFill>
          <a:ln w="9525">
            <a:solidFill>
              <a:srgbClr val="D5E2E6"/>
            </a:solidFill>
          </a:ln>
          <a:effectLst/>
        </p:spPr>
        <p:txBody>
          <a:bodyPr rtlCol="0" anchor="ctr"/>
          <a:lstStyle/>
          <a:p>
            <a:pPr algn="ctr"/>
          </a:p>
        </p:txBody>
      </p:sp>
      <p:sp>
        <p:nvSpPr>
          <p:cNvPr id="46" name="TextBox 45"/>
          <p:cNvSpPr txBox="1"/>
          <p:nvPr/>
        </p:nvSpPr>
        <p:spPr>
          <a:xfrm>
            <a:off x="438912" y="3383280"/>
            <a:ext cx="137160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5</a:t>
            </a:r>
          </a:p>
        </p:txBody>
      </p:sp>
      <p:sp>
        <p:nvSpPr>
          <p:cNvPr id="47" name="Rectangle 46"/>
          <p:cNvSpPr/>
          <p:nvPr/>
        </p:nvSpPr>
        <p:spPr>
          <a:xfrm>
            <a:off x="1847088" y="3346704"/>
            <a:ext cx="1828800" cy="777240"/>
          </a:xfrm>
          <a:prstGeom prst="rect">
            <a:avLst/>
          </a:prstGeom>
          <a:solidFill>
            <a:srgbClr val="FFFFFF"/>
          </a:solidFill>
          <a:ln w="9525">
            <a:solidFill>
              <a:srgbClr val="D5E2E6"/>
            </a:solidFill>
          </a:ln>
          <a:effectLst/>
        </p:spPr>
        <p:txBody>
          <a:bodyPr rtlCol="0" anchor="ctr"/>
          <a:lstStyle/>
          <a:p>
            <a:pPr algn="ctr"/>
          </a:p>
        </p:txBody>
      </p:sp>
      <p:sp>
        <p:nvSpPr>
          <p:cNvPr id="48" name="TextBox 47"/>
          <p:cNvSpPr txBox="1"/>
          <p:nvPr/>
        </p:nvSpPr>
        <p:spPr>
          <a:xfrm>
            <a:off x="1901952" y="3383280"/>
            <a:ext cx="17373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130</a:t>
            </a:r>
          </a:p>
        </p:txBody>
      </p:sp>
      <p:sp>
        <p:nvSpPr>
          <p:cNvPr id="49" name="Rectangle 48"/>
          <p:cNvSpPr/>
          <p:nvPr/>
        </p:nvSpPr>
        <p:spPr>
          <a:xfrm>
            <a:off x="3675887" y="3346704"/>
            <a:ext cx="1828800" cy="777240"/>
          </a:xfrm>
          <a:prstGeom prst="rect">
            <a:avLst/>
          </a:prstGeom>
          <a:solidFill>
            <a:srgbClr val="FFFFFF"/>
          </a:solidFill>
          <a:ln w="9525">
            <a:solidFill>
              <a:srgbClr val="D5E2E6"/>
            </a:solidFill>
          </a:ln>
          <a:effectLst/>
        </p:spPr>
        <p:txBody>
          <a:bodyPr rtlCol="0" anchor="ctr"/>
          <a:lstStyle/>
          <a:p>
            <a:pPr algn="ctr"/>
          </a:p>
        </p:txBody>
      </p:sp>
      <p:sp>
        <p:nvSpPr>
          <p:cNvPr id="50" name="TextBox 49"/>
          <p:cNvSpPr txBox="1"/>
          <p:nvPr/>
        </p:nvSpPr>
        <p:spPr>
          <a:xfrm>
            <a:off x="3730751" y="3383280"/>
            <a:ext cx="17373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18</a:t>
            </a:r>
          </a:p>
        </p:txBody>
      </p:sp>
      <p:sp>
        <p:nvSpPr>
          <p:cNvPr id="51" name="Rectangle 50"/>
          <p:cNvSpPr/>
          <p:nvPr/>
        </p:nvSpPr>
        <p:spPr>
          <a:xfrm>
            <a:off x="5504688" y="3346704"/>
            <a:ext cx="2011680" cy="777240"/>
          </a:xfrm>
          <a:prstGeom prst="rect">
            <a:avLst/>
          </a:prstGeom>
          <a:solidFill>
            <a:srgbClr val="FFFFFF"/>
          </a:solidFill>
          <a:ln w="9525">
            <a:solidFill>
              <a:srgbClr val="D5E2E6"/>
            </a:solidFill>
          </a:ln>
          <a:effectLst/>
        </p:spPr>
        <p:txBody>
          <a:bodyPr rtlCol="0" anchor="ctr"/>
          <a:lstStyle/>
          <a:p>
            <a:pPr algn="ctr"/>
          </a:p>
        </p:txBody>
      </p:sp>
      <p:sp>
        <p:nvSpPr>
          <p:cNvPr id="52" name="TextBox 51"/>
          <p:cNvSpPr txBox="1"/>
          <p:nvPr/>
        </p:nvSpPr>
        <p:spPr>
          <a:xfrm>
            <a:off x="5559551" y="3383280"/>
            <a:ext cx="19202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120</a:t>
            </a:r>
          </a:p>
        </p:txBody>
      </p:sp>
      <p:sp>
        <p:nvSpPr>
          <p:cNvPr id="53" name="Rectangle 52"/>
          <p:cNvSpPr/>
          <p:nvPr/>
        </p:nvSpPr>
        <p:spPr>
          <a:xfrm>
            <a:off x="7516367" y="3346704"/>
            <a:ext cx="2011680" cy="777240"/>
          </a:xfrm>
          <a:prstGeom prst="rect">
            <a:avLst/>
          </a:prstGeom>
          <a:solidFill>
            <a:srgbClr val="FFFFFF"/>
          </a:solidFill>
          <a:ln w="9525">
            <a:solidFill>
              <a:srgbClr val="D5E2E6"/>
            </a:solidFill>
          </a:ln>
          <a:effectLst/>
        </p:spPr>
        <p:txBody>
          <a:bodyPr rtlCol="0" anchor="ctr"/>
          <a:lstStyle/>
          <a:p>
            <a:pPr algn="ctr"/>
          </a:p>
        </p:txBody>
      </p:sp>
      <p:sp>
        <p:nvSpPr>
          <p:cNvPr id="54" name="TextBox 53"/>
          <p:cNvSpPr txBox="1"/>
          <p:nvPr/>
        </p:nvSpPr>
        <p:spPr>
          <a:xfrm>
            <a:off x="7571231" y="3383280"/>
            <a:ext cx="19202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20</a:t>
            </a:r>
          </a:p>
        </p:txBody>
      </p:sp>
      <p:sp>
        <p:nvSpPr>
          <p:cNvPr id="55" name="Rectangle 54"/>
          <p:cNvSpPr/>
          <p:nvPr/>
        </p:nvSpPr>
        <p:spPr>
          <a:xfrm>
            <a:off x="9528047" y="3346704"/>
            <a:ext cx="2286000" cy="777240"/>
          </a:xfrm>
          <a:prstGeom prst="rect">
            <a:avLst/>
          </a:prstGeom>
          <a:solidFill>
            <a:srgbClr val="FFFFFF"/>
          </a:solidFill>
          <a:ln w="9525">
            <a:solidFill>
              <a:srgbClr val="D5E2E6"/>
            </a:solidFill>
          </a:ln>
          <a:effectLst/>
        </p:spPr>
        <p:txBody>
          <a:bodyPr rtlCol="0" anchor="ctr"/>
          <a:lstStyle/>
          <a:p>
            <a:pPr algn="ctr"/>
          </a:p>
        </p:txBody>
      </p:sp>
      <p:sp>
        <p:nvSpPr>
          <p:cNvPr id="56" name="TextBox 55"/>
          <p:cNvSpPr txBox="1"/>
          <p:nvPr/>
        </p:nvSpPr>
        <p:spPr>
          <a:xfrm>
            <a:off x="9582911" y="3383280"/>
            <a:ext cx="21945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10</a:t>
            </a:r>
          </a:p>
        </p:txBody>
      </p:sp>
      <p:sp>
        <p:nvSpPr>
          <p:cNvPr id="57" name="Rectangle 56"/>
          <p:cNvSpPr/>
          <p:nvPr/>
        </p:nvSpPr>
        <p:spPr>
          <a:xfrm>
            <a:off x="384048" y="4123944"/>
            <a:ext cx="1463040" cy="777240"/>
          </a:xfrm>
          <a:prstGeom prst="rect">
            <a:avLst/>
          </a:prstGeom>
          <a:solidFill>
            <a:srgbClr val="EEF5F6"/>
          </a:solidFill>
          <a:ln w="9525">
            <a:solidFill>
              <a:srgbClr val="D5E2E6"/>
            </a:solidFill>
          </a:ln>
          <a:effectLst/>
        </p:spPr>
        <p:txBody>
          <a:bodyPr rtlCol="0" anchor="ctr"/>
          <a:lstStyle/>
          <a:p>
            <a:pPr algn="ctr"/>
          </a:p>
        </p:txBody>
      </p:sp>
      <p:sp>
        <p:nvSpPr>
          <p:cNvPr id="58" name="TextBox 57"/>
          <p:cNvSpPr txBox="1"/>
          <p:nvPr/>
        </p:nvSpPr>
        <p:spPr>
          <a:xfrm>
            <a:off x="438912" y="4160520"/>
            <a:ext cx="137160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6</a:t>
            </a:r>
          </a:p>
        </p:txBody>
      </p:sp>
      <p:sp>
        <p:nvSpPr>
          <p:cNvPr id="59" name="Rectangle 58"/>
          <p:cNvSpPr/>
          <p:nvPr/>
        </p:nvSpPr>
        <p:spPr>
          <a:xfrm>
            <a:off x="1847088" y="4123944"/>
            <a:ext cx="1828800" cy="777240"/>
          </a:xfrm>
          <a:prstGeom prst="rect">
            <a:avLst/>
          </a:prstGeom>
          <a:solidFill>
            <a:srgbClr val="EEF5F6"/>
          </a:solidFill>
          <a:ln w="9525">
            <a:solidFill>
              <a:srgbClr val="D5E2E6"/>
            </a:solidFill>
          </a:ln>
          <a:effectLst/>
        </p:spPr>
        <p:txBody>
          <a:bodyPr rtlCol="0" anchor="ctr"/>
          <a:lstStyle/>
          <a:p>
            <a:pPr algn="ctr"/>
          </a:p>
        </p:txBody>
      </p:sp>
      <p:sp>
        <p:nvSpPr>
          <p:cNvPr id="60" name="TextBox 59"/>
          <p:cNvSpPr txBox="1"/>
          <p:nvPr/>
        </p:nvSpPr>
        <p:spPr>
          <a:xfrm>
            <a:off x="1901952" y="4160520"/>
            <a:ext cx="17373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144</a:t>
            </a:r>
          </a:p>
        </p:txBody>
      </p:sp>
      <p:sp>
        <p:nvSpPr>
          <p:cNvPr id="61" name="Rectangle 60"/>
          <p:cNvSpPr/>
          <p:nvPr/>
        </p:nvSpPr>
        <p:spPr>
          <a:xfrm>
            <a:off x="3675887" y="4123944"/>
            <a:ext cx="1828800" cy="777240"/>
          </a:xfrm>
          <a:prstGeom prst="rect">
            <a:avLst/>
          </a:prstGeom>
          <a:solidFill>
            <a:srgbClr val="EEF5F6"/>
          </a:solidFill>
          <a:ln w="9525">
            <a:solidFill>
              <a:srgbClr val="D5E2E6"/>
            </a:solidFill>
          </a:ln>
          <a:effectLst/>
        </p:spPr>
        <p:txBody>
          <a:bodyPr rtlCol="0" anchor="ctr"/>
          <a:lstStyle/>
          <a:p>
            <a:pPr algn="ctr"/>
          </a:p>
        </p:txBody>
      </p:sp>
      <p:sp>
        <p:nvSpPr>
          <p:cNvPr id="62" name="TextBox 61"/>
          <p:cNvSpPr txBox="1"/>
          <p:nvPr/>
        </p:nvSpPr>
        <p:spPr>
          <a:xfrm>
            <a:off x="3730751" y="4160520"/>
            <a:ext cx="17373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14</a:t>
            </a:r>
          </a:p>
        </p:txBody>
      </p:sp>
      <p:sp>
        <p:nvSpPr>
          <p:cNvPr id="63" name="Rectangle 62"/>
          <p:cNvSpPr/>
          <p:nvPr/>
        </p:nvSpPr>
        <p:spPr>
          <a:xfrm>
            <a:off x="5504688" y="4123944"/>
            <a:ext cx="2011680" cy="777240"/>
          </a:xfrm>
          <a:prstGeom prst="rect">
            <a:avLst/>
          </a:prstGeom>
          <a:solidFill>
            <a:srgbClr val="EEF5F6"/>
          </a:solidFill>
          <a:ln w="9525">
            <a:solidFill>
              <a:srgbClr val="D5E2E6"/>
            </a:solidFill>
          </a:ln>
          <a:effectLst/>
        </p:spPr>
        <p:txBody>
          <a:bodyPr rtlCol="0" anchor="ctr"/>
          <a:lstStyle/>
          <a:p>
            <a:pPr algn="ctr"/>
          </a:p>
        </p:txBody>
      </p:sp>
      <p:sp>
        <p:nvSpPr>
          <p:cNvPr id="64" name="TextBox 63"/>
          <p:cNvSpPr txBox="1"/>
          <p:nvPr/>
        </p:nvSpPr>
        <p:spPr>
          <a:xfrm>
            <a:off x="5559551" y="4160520"/>
            <a:ext cx="19202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144</a:t>
            </a:r>
          </a:p>
        </p:txBody>
      </p:sp>
      <p:sp>
        <p:nvSpPr>
          <p:cNvPr id="65" name="Rectangle 64"/>
          <p:cNvSpPr/>
          <p:nvPr/>
        </p:nvSpPr>
        <p:spPr>
          <a:xfrm>
            <a:off x="7516367" y="4123944"/>
            <a:ext cx="2011680" cy="777240"/>
          </a:xfrm>
          <a:prstGeom prst="rect">
            <a:avLst/>
          </a:prstGeom>
          <a:solidFill>
            <a:srgbClr val="EEF5F6"/>
          </a:solidFill>
          <a:ln w="9525">
            <a:solidFill>
              <a:srgbClr val="D5E2E6"/>
            </a:solidFill>
          </a:ln>
          <a:effectLst/>
        </p:spPr>
        <p:txBody>
          <a:bodyPr rtlCol="0" anchor="ctr"/>
          <a:lstStyle/>
          <a:p>
            <a:pPr algn="ctr"/>
          </a:p>
        </p:txBody>
      </p:sp>
      <p:sp>
        <p:nvSpPr>
          <p:cNvPr id="66" name="TextBox 65"/>
          <p:cNvSpPr txBox="1"/>
          <p:nvPr/>
        </p:nvSpPr>
        <p:spPr>
          <a:xfrm>
            <a:off x="7571231" y="4160520"/>
            <a:ext cx="19202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24</a:t>
            </a:r>
          </a:p>
        </p:txBody>
      </p:sp>
      <p:sp>
        <p:nvSpPr>
          <p:cNvPr id="67" name="Rectangle 66"/>
          <p:cNvSpPr/>
          <p:nvPr/>
        </p:nvSpPr>
        <p:spPr>
          <a:xfrm>
            <a:off x="9528047" y="4123944"/>
            <a:ext cx="2286000" cy="777240"/>
          </a:xfrm>
          <a:prstGeom prst="rect">
            <a:avLst/>
          </a:prstGeom>
          <a:solidFill>
            <a:srgbClr val="EEF5F6"/>
          </a:solidFill>
          <a:ln w="9525">
            <a:solidFill>
              <a:srgbClr val="D5E2E6"/>
            </a:solidFill>
          </a:ln>
          <a:effectLst/>
        </p:spPr>
        <p:txBody>
          <a:bodyPr rtlCol="0" anchor="ctr"/>
          <a:lstStyle/>
          <a:p>
            <a:pPr algn="ctr"/>
          </a:p>
        </p:txBody>
      </p:sp>
      <p:sp>
        <p:nvSpPr>
          <p:cNvPr id="68" name="TextBox 67"/>
          <p:cNvSpPr txBox="1"/>
          <p:nvPr/>
        </p:nvSpPr>
        <p:spPr>
          <a:xfrm>
            <a:off x="9582911" y="4160520"/>
            <a:ext cx="21945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0</a:t>
            </a:r>
          </a:p>
        </p:txBody>
      </p:sp>
      <p:sp>
        <p:nvSpPr>
          <p:cNvPr id="69" name="Rectangle 68"/>
          <p:cNvSpPr/>
          <p:nvPr/>
        </p:nvSpPr>
        <p:spPr>
          <a:xfrm>
            <a:off x="384048" y="4901183"/>
            <a:ext cx="1463040" cy="777240"/>
          </a:xfrm>
          <a:prstGeom prst="rect">
            <a:avLst/>
          </a:prstGeom>
          <a:solidFill>
            <a:srgbClr val="FFFFFF"/>
          </a:solidFill>
          <a:ln w="9525">
            <a:solidFill>
              <a:srgbClr val="D5E2E6"/>
            </a:solidFill>
          </a:ln>
          <a:effectLst/>
        </p:spPr>
        <p:txBody>
          <a:bodyPr rtlCol="0" anchor="ctr"/>
          <a:lstStyle/>
          <a:p>
            <a:pPr algn="ctr"/>
          </a:p>
        </p:txBody>
      </p:sp>
      <p:sp>
        <p:nvSpPr>
          <p:cNvPr id="70" name="TextBox 69"/>
          <p:cNvSpPr txBox="1"/>
          <p:nvPr/>
        </p:nvSpPr>
        <p:spPr>
          <a:xfrm>
            <a:off x="438912" y="4937759"/>
            <a:ext cx="137160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7</a:t>
            </a:r>
          </a:p>
        </p:txBody>
      </p:sp>
      <p:sp>
        <p:nvSpPr>
          <p:cNvPr id="71" name="Rectangle 70"/>
          <p:cNvSpPr/>
          <p:nvPr/>
        </p:nvSpPr>
        <p:spPr>
          <a:xfrm>
            <a:off x="1847088" y="4901183"/>
            <a:ext cx="1828800" cy="777240"/>
          </a:xfrm>
          <a:prstGeom prst="rect">
            <a:avLst/>
          </a:prstGeom>
          <a:solidFill>
            <a:srgbClr val="FFFFFF"/>
          </a:solidFill>
          <a:ln w="9525">
            <a:solidFill>
              <a:srgbClr val="D5E2E6"/>
            </a:solidFill>
          </a:ln>
          <a:effectLst/>
        </p:spPr>
        <p:txBody>
          <a:bodyPr rtlCol="0" anchor="ctr"/>
          <a:lstStyle/>
          <a:p>
            <a:pPr algn="ctr"/>
          </a:p>
        </p:txBody>
      </p:sp>
      <p:sp>
        <p:nvSpPr>
          <p:cNvPr id="72" name="TextBox 71"/>
          <p:cNvSpPr txBox="1"/>
          <p:nvPr/>
        </p:nvSpPr>
        <p:spPr>
          <a:xfrm>
            <a:off x="1901952" y="4937759"/>
            <a:ext cx="17373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154</a:t>
            </a:r>
          </a:p>
        </p:txBody>
      </p:sp>
      <p:sp>
        <p:nvSpPr>
          <p:cNvPr id="73" name="Rectangle 72"/>
          <p:cNvSpPr/>
          <p:nvPr/>
        </p:nvSpPr>
        <p:spPr>
          <a:xfrm>
            <a:off x="3675887" y="4901183"/>
            <a:ext cx="1828800" cy="777240"/>
          </a:xfrm>
          <a:prstGeom prst="rect">
            <a:avLst/>
          </a:prstGeom>
          <a:solidFill>
            <a:srgbClr val="FFFFFF"/>
          </a:solidFill>
          <a:ln w="9525">
            <a:solidFill>
              <a:srgbClr val="D5E2E6"/>
            </a:solidFill>
          </a:ln>
          <a:effectLst/>
        </p:spPr>
        <p:txBody>
          <a:bodyPr rtlCol="0" anchor="ctr"/>
          <a:lstStyle/>
          <a:p>
            <a:pPr algn="ctr"/>
          </a:p>
        </p:txBody>
      </p:sp>
      <p:sp>
        <p:nvSpPr>
          <p:cNvPr id="74" name="TextBox 73"/>
          <p:cNvSpPr txBox="1"/>
          <p:nvPr/>
        </p:nvSpPr>
        <p:spPr>
          <a:xfrm>
            <a:off x="3730751" y="4937759"/>
            <a:ext cx="17373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10</a:t>
            </a:r>
          </a:p>
        </p:txBody>
      </p:sp>
      <p:sp>
        <p:nvSpPr>
          <p:cNvPr id="75" name="Rectangle 74"/>
          <p:cNvSpPr/>
          <p:nvPr/>
        </p:nvSpPr>
        <p:spPr>
          <a:xfrm>
            <a:off x="5504688" y="4901183"/>
            <a:ext cx="2011680" cy="777240"/>
          </a:xfrm>
          <a:prstGeom prst="rect">
            <a:avLst/>
          </a:prstGeom>
          <a:solidFill>
            <a:srgbClr val="FFFFFF"/>
          </a:solidFill>
          <a:ln w="9525">
            <a:solidFill>
              <a:srgbClr val="D5E2E6"/>
            </a:solidFill>
          </a:ln>
          <a:effectLst/>
        </p:spPr>
        <p:txBody>
          <a:bodyPr rtlCol="0" anchor="ctr"/>
          <a:lstStyle/>
          <a:p>
            <a:pPr algn="ctr"/>
          </a:p>
        </p:txBody>
      </p:sp>
      <p:sp>
        <p:nvSpPr>
          <p:cNvPr id="76" name="TextBox 75"/>
          <p:cNvSpPr txBox="1"/>
          <p:nvPr/>
        </p:nvSpPr>
        <p:spPr>
          <a:xfrm>
            <a:off x="5559551" y="4937759"/>
            <a:ext cx="19202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172</a:t>
            </a:r>
          </a:p>
        </p:txBody>
      </p:sp>
      <p:sp>
        <p:nvSpPr>
          <p:cNvPr id="77" name="Rectangle 76"/>
          <p:cNvSpPr/>
          <p:nvPr/>
        </p:nvSpPr>
        <p:spPr>
          <a:xfrm>
            <a:off x="7516367" y="4901183"/>
            <a:ext cx="2011680" cy="777240"/>
          </a:xfrm>
          <a:prstGeom prst="rect">
            <a:avLst/>
          </a:prstGeom>
          <a:solidFill>
            <a:srgbClr val="FFFFFF"/>
          </a:solidFill>
          <a:ln w="9525">
            <a:solidFill>
              <a:srgbClr val="D5E2E6"/>
            </a:solidFill>
          </a:ln>
          <a:effectLst/>
        </p:spPr>
        <p:txBody>
          <a:bodyPr rtlCol="0" anchor="ctr"/>
          <a:lstStyle/>
          <a:p>
            <a:pPr algn="ctr"/>
          </a:p>
        </p:txBody>
      </p:sp>
      <p:sp>
        <p:nvSpPr>
          <p:cNvPr id="78" name="TextBox 77"/>
          <p:cNvSpPr txBox="1"/>
          <p:nvPr/>
        </p:nvSpPr>
        <p:spPr>
          <a:xfrm>
            <a:off x="7571231" y="4937759"/>
            <a:ext cx="192024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28</a:t>
            </a:r>
          </a:p>
        </p:txBody>
      </p:sp>
      <p:sp>
        <p:nvSpPr>
          <p:cNvPr id="79" name="Rectangle 78"/>
          <p:cNvSpPr/>
          <p:nvPr/>
        </p:nvSpPr>
        <p:spPr>
          <a:xfrm>
            <a:off x="9528047" y="4901183"/>
            <a:ext cx="2286000" cy="777240"/>
          </a:xfrm>
          <a:prstGeom prst="rect">
            <a:avLst/>
          </a:prstGeom>
          <a:solidFill>
            <a:srgbClr val="FFFFFF"/>
          </a:solidFill>
          <a:ln w="9525">
            <a:solidFill>
              <a:srgbClr val="D5E2E6"/>
            </a:solidFill>
          </a:ln>
          <a:effectLst/>
        </p:spPr>
        <p:txBody>
          <a:bodyPr rtlCol="0" anchor="ctr"/>
          <a:lstStyle/>
          <a:p>
            <a:pPr algn="ctr"/>
          </a:p>
        </p:txBody>
      </p:sp>
      <p:sp>
        <p:nvSpPr>
          <p:cNvPr id="80" name="TextBox 79"/>
          <p:cNvSpPr txBox="1"/>
          <p:nvPr/>
        </p:nvSpPr>
        <p:spPr>
          <a:xfrm>
            <a:off x="9582911" y="4937759"/>
            <a:ext cx="2194560" cy="722376"/>
          </a:xfrm>
          <a:prstGeom prst="rect">
            <a:avLst/>
          </a:prstGeom>
          <a:noFill/>
        </p:spPr>
        <p:txBody>
          <a:bodyPr wrap="square" lIns="54864" rIns="54864" tIns="36576" bIns="18288" anchor="t"/>
          <a:lstStyle/>
          <a:p>
            <a:pPr algn="l">
              <a:lnSpc>
                <a:spcPct val="105000"/>
              </a:lnSpc>
              <a:spcBef>
                <a:spcPts val="0"/>
              </a:spcBef>
              <a:spcAft>
                <a:spcPts val="0"/>
              </a:spcAft>
            </a:pPr>
            <a:r>
              <a:rPr sz="1300" b="0" i="0">
                <a:solidFill>
                  <a:srgbClr val="1C2B36"/>
                </a:solidFill>
                <a:latin typeface="Calibri"/>
                <a:cs typeface="Calibri"/>
                <a:ea typeface="Calibri"/>
              </a:rPr>
              <a:t>−18</a:t>
            </a:r>
          </a:p>
        </p:txBody>
      </p:sp>
      <p:sp>
        <p:nvSpPr>
          <p:cNvPr id="81" name="TextBox 80"/>
          <p:cNvSpPr txBox="1"/>
          <p:nvPr/>
        </p:nvSpPr>
        <p:spPr>
          <a:xfrm>
            <a:off x="384048" y="6172200"/>
            <a:ext cx="11430000" cy="365760"/>
          </a:xfrm>
          <a:prstGeom prst="rect">
            <a:avLst/>
          </a:prstGeom>
          <a:noFill/>
        </p:spPr>
        <p:txBody>
          <a:bodyPr wrap="square" lIns="54864" rIns="54864" tIns="36576" bIns="18288" anchor="t"/>
          <a:lstStyle/>
          <a:p>
            <a:pPr algn="l">
              <a:lnSpc>
                <a:spcPct val="105000"/>
              </a:lnSpc>
              <a:spcBef>
                <a:spcPts val="0"/>
              </a:spcBef>
              <a:spcAft>
                <a:spcPts val="0"/>
              </a:spcAft>
            </a:pPr>
            <a:r>
              <a:rPr sz="1200" b="0" i="0">
                <a:solidFill>
                  <a:srgbClr val="5E707A"/>
                </a:solidFill>
                <a:latin typeface="Calibri"/>
                <a:cs typeface="Calibri"/>
                <a:ea typeface="Calibri"/>
              </a:rPr>
              <a:t>All figures in $. Profit = TR − TC. MR and MC are the step from the row above.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PROFIT</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Highest revenue is not highest profit</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7/44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53312"/>
            <a:ext cx="91440" cy="1578864"/>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40080" y="1499616"/>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At 6 units, total revenue is $144 and profit is zero. At 4 units, revenue is lower and profit is $12. The fourth unit added $22 of revenue and $16 of cost. The fifth added $18 of revenue and $20 of cost, so it reduced profit.</a:t>
            </a:r>
          </a:p>
        </p:txBody>
      </p:sp>
      <p:sp>
        <p:nvSpPr>
          <p:cNvPr id="12" name="Rectangle 11"/>
          <p:cNvSpPr/>
          <p:nvPr/>
        </p:nvSpPr>
        <p:spPr>
          <a:xfrm>
            <a:off x="384048" y="3078479"/>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3" name="Rectangle 12"/>
          <p:cNvSpPr/>
          <p:nvPr/>
        </p:nvSpPr>
        <p:spPr>
          <a:xfrm>
            <a:off x="384048" y="3078479"/>
            <a:ext cx="91440" cy="1578864"/>
          </a:xfrm>
          <a:prstGeom prst="rect">
            <a:avLst/>
          </a:prstGeom>
          <a:solidFill>
            <a:srgbClr val="55CDC0"/>
          </a:solidFill>
          <a:ln>
            <a:noFill/>
          </a:ln>
          <a:effectLst/>
        </p:spPr>
        <p:txBody>
          <a:bodyPr rtlCol="0" anchor="ctr"/>
          <a:lstStyle/>
          <a:p>
            <a:pPr algn="ctr"/>
          </a:p>
        </p:txBody>
      </p:sp>
      <p:sp>
        <p:nvSpPr>
          <p:cNvPr id="14" name="TextBox 13"/>
          <p:cNvSpPr txBox="1"/>
          <p:nvPr/>
        </p:nvSpPr>
        <p:spPr>
          <a:xfrm>
            <a:off x="640080" y="3224783"/>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The rule is: produce another unit while MR is above MC, and stop when the next unit would have MC above MR. On a diagram that is where MC cuts MR from below. Do not stop where total revenue is highest.</a:t>
            </a:r>
          </a:p>
        </p:txBody>
      </p:sp>
      <p:sp>
        <p:nvSpPr>
          <p:cNvPr id="15" name="Rectangle 14"/>
          <p:cNvSpPr/>
          <p:nvPr/>
        </p:nvSpPr>
        <p:spPr>
          <a:xfrm>
            <a:off x="384048" y="4803648"/>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6" name="Rectangle 15"/>
          <p:cNvSpPr/>
          <p:nvPr/>
        </p:nvSpPr>
        <p:spPr>
          <a:xfrm>
            <a:off x="384048" y="4803648"/>
            <a:ext cx="91440" cy="1578864"/>
          </a:xfrm>
          <a:prstGeom prst="rect">
            <a:avLst/>
          </a:prstGeom>
          <a:solidFill>
            <a:srgbClr val="55CDC0"/>
          </a:solidFill>
          <a:ln>
            <a:noFill/>
          </a:ln>
          <a:effectLst/>
        </p:spPr>
        <p:txBody>
          <a:bodyPr rtlCol="0" anchor="ctr"/>
          <a:lstStyle/>
          <a:p>
            <a:pPr algn="ctr"/>
          </a:p>
        </p:txBody>
      </p:sp>
      <p:sp>
        <p:nvSpPr>
          <p:cNvPr id="17" name="TextBox 16"/>
          <p:cNvSpPr txBox="1"/>
          <p:nvPr/>
        </p:nvSpPr>
        <p:spPr>
          <a:xfrm>
            <a:off x="640080" y="4949952"/>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Link back to the table. Q4 is the only row where the next unit fails the MR &gt; MC test.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THE DIAGRAM</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Marginal revenue falls faster than price</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8/44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20040" y="1298448"/>
            <a:ext cx="7498079" cy="5074920"/>
          </a:xfrm>
          <a:prstGeom prst="rect">
            <a:avLst/>
          </a:prstGeom>
          <a:solidFill>
            <a:srgbClr val="FFFFFF"/>
          </a:solidFill>
          <a:ln w="12700">
            <a:solidFill>
              <a:srgbClr val="D5E2E6"/>
            </a:solidFill>
          </a:ln>
          <a:effectLst/>
        </p:spPr>
        <p:txBody>
          <a:bodyPr rtlCol="0" anchor="ctr"/>
          <a:lstStyle/>
          <a:p>
            <a:pPr algn="ctr"/>
          </a:p>
        </p:txBody>
      </p:sp>
      <p:cxnSp>
        <p:nvCxnSpPr>
          <p:cNvPr id="10" name="Connector 9"/>
          <p:cNvCxnSpPr/>
          <p:nvPr/>
        </p:nvCxnSpPr>
        <p:spPr>
          <a:xfrm>
            <a:off x="822960" y="5870448"/>
            <a:ext cx="6830567" cy="0"/>
          </a:xfrm>
          <a:prstGeom prst="line">
            <a:avLst/>
          </a:prstGeom>
          <a:ln w="22225">
            <a:solidFill>
              <a:srgbClr val="182D3D"/>
            </a:solidFill>
          </a:ln>
        </p:spPr>
      </p:cxnSp>
      <p:cxnSp>
        <p:nvCxnSpPr>
          <p:cNvPr id="11" name="Connector 10"/>
          <p:cNvCxnSpPr/>
          <p:nvPr/>
        </p:nvCxnSpPr>
        <p:spPr>
          <a:xfrm flipV="1">
            <a:off x="822960" y="1755648"/>
            <a:ext cx="0" cy="4114800"/>
          </a:xfrm>
          <a:prstGeom prst="line">
            <a:avLst/>
          </a:prstGeom>
          <a:ln w="22225">
            <a:solidFill>
              <a:srgbClr val="182D3D"/>
            </a:solidFill>
          </a:ln>
        </p:spPr>
      </p:cxnSp>
      <p:sp>
        <p:nvSpPr>
          <p:cNvPr id="12" name="TextBox 11"/>
          <p:cNvSpPr txBox="1"/>
          <p:nvPr/>
        </p:nvSpPr>
        <p:spPr>
          <a:xfrm>
            <a:off x="2903220" y="5989320"/>
            <a:ext cx="2560320" cy="292608"/>
          </a:xfrm>
          <a:prstGeom prst="rect">
            <a:avLst/>
          </a:prstGeom>
          <a:noFill/>
        </p:spPr>
        <p:txBody>
          <a:bodyPr wrap="square" lIns="54864" rIns="54864" tIns="36576" bIns="18288" anchor="t"/>
          <a:lstStyle/>
          <a:p>
            <a:pPr algn="ctr">
              <a:lnSpc>
                <a:spcPct val="105000"/>
              </a:lnSpc>
              <a:spcBef>
                <a:spcPts val="0"/>
              </a:spcBef>
              <a:spcAft>
                <a:spcPts val="0"/>
              </a:spcAft>
            </a:pPr>
            <a:r>
              <a:rPr sz="1400" b="1" i="0">
                <a:solidFill>
                  <a:srgbClr val="182D3D"/>
                </a:solidFill>
                <a:latin typeface="Calibri"/>
                <a:cs typeface="Calibri"/>
                <a:ea typeface="Calibri"/>
              </a:rPr>
              <a:t>Output</a:t>
            </a:r>
          </a:p>
        </p:txBody>
      </p:sp>
      <p:sp>
        <p:nvSpPr>
          <p:cNvPr id="13" name="TextBox 12"/>
          <p:cNvSpPr txBox="1"/>
          <p:nvPr/>
        </p:nvSpPr>
        <p:spPr>
          <a:xfrm>
            <a:off x="411479" y="1371600"/>
            <a:ext cx="3108960" cy="292608"/>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182D3D"/>
                </a:solidFill>
                <a:latin typeface="Calibri"/>
                <a:cs typeface="Calibri"/>
                <a:ea typeface="Calibri"/>
              </a:rPr>
              <a:t>Revenue</a:t>
            </a:r>
          </a:p>
        </p:txBody>
      </p:sp>
      <p:cxnSp>
        <p:nvCxnSpPr>
          <p:cNvPr id="14" name="Connector 13"/>
          <p:cNvCxnSpPr/>
          <p:nvPr/>
        </p:nvCxnSpPr>
        <p:spPr>
          <a:xfrm>
            <a:off x="1360627" y="2167128"/>
            <a:ext cx="5511089" cy="3209544"/>
          </a:xfrm>
          <a:prstGeom prst="line">
            <a:avLst/>
          </a:prstGeom>
          <a:ln w="33020">
            <a:solidFill>
              <a:srgbClr val="0E7C7B"/>
            </a:solidFill>
          </a:ln>
        </p:spPr>
      </p:cxnSp>
      <p:cxnSp>
        <p:nvCxnSpPr>
          <p:cNvPr id="15" name="Connector 14"/>
          <p:cNvCxnSpPr/>
          <p:nvPr/>
        </p:nvCxnSpPr>
        <p:spPr>
          <a:xfrm>
            <a:off x="1360627" y="2167128"/>
            <a:ext cx="2889961" cy="3291840"/>
          </a:xfrm>
          <a:prstGeom prst="line">
            <a:avLst/>
          </a:prstGeom>
          <a:ln w="31750">
            <a:solidFill>
              <a:srgbClr val="9C3B3B"/>
            </a:solidFill>
          </a:ln>
        </p:spPr>
      </p:cxnSp>
      <p:sp>
        <p:nvSpPr>
          <p:cNvPr id="16" name="TextBox 15"/>
          <p:cNvSpPr txBox="1"/>
          <p:nvPr/>
        </p:nvSpPr>
        <p:spPr>
          <a:xfrm>
            <a:off x="5976518" y="4279392"/>
            <a:ext cx="731520" cy="292608"/>
          </a:xfrm>
          <a:prstGeom prst="rect">
            <a:avLst/>
          </a:prstGeom>
          <a:noFill/>
        </p:spPr>
        <p:txBody>
          <a:bodyPr wrap="square" lIns="54864" rIns="54864" tIns="36576" bIns="18288" anchor="t"/>
          <a:lstStyle/>
          <a:p>
            <a:pPr algn="l">
              <a:lnSpc>
                <a:spcPct val="105000"/>
              </a:lnSpc>
              <a:spcBef>
                <a:spcPts val="0"/>
              </a:spcBef>
              <a:spcAft>
                <a:spcPts val="0"/>
              </a:spcAft>
            </a:pPr>
            <a:r>
              <a:rPr sz="1500" b="1" i="0">
                <a:solidFill>
                  <a:srgbClr val="0E7C7B"/>
                </a:solidFill>
                <a:latin typeface="Calibri"/>
                <a:cs typeface="Calibri"/>
                <a:ea typeface="Calibri"/>
              </a:rPr>
              <a:t>AR</a:t>
            </a:r>
          </a:p>
        </p:txBody>
      </p:sp>
      <p:sp>
        <p:nvSpPr>
          <p:cNvPr id="17" name="TextBox 16"/>
          <p:cNvSpPr txBox="1"/>
          <p:nvPr/>
        </p:nvSpPr>
        <p:spPr>
          <a:xfrm>
            <a:off x="3315614" y="4178807"/>
            <a:ext cx="731520" cy="292608"/>
          </a:xfrm>
          <a:prstGeom prst="rect">
            <a:avLst/>
          </a:prstGeom>
          <a:noFill/>
        </p:spPr>
        <p:txBody>
          <a:bodyPr wrap="square" lIns="54864" rIns="54864" tIns="36576" bIns="18288" anchor="t"/>
          <a:lstStyle/>
          <a:p>
            <a:pPr algn="l">
              <a:lnSpc>
                <a:spcPct val="105000"/>
              </a:lnSpc>
              <a:spcBef>
                <a:spcPts val="0"/>
              </a:spcBef>
              <a:spcAft>
                <a:spcPts val="0"/>
              </a:spcAft>
            </a:pPr>
            <a:r>
              <a:rPr sz="1500" b="1" i="0">
                <a:solidFill>
                  <a:srgbClr val="9C3B3B"/>
                </a:solidFill>
                <a:latin typeface="Calibri"/>
                <a:cs typeface="Calibri"/>
                <a:ea typeface="Calibri"/>
              </a:rPr>
              <a:t>MR</a:t>
            </a:r>
          </a:p>
        </p:txBody>
      </p:sp>
      <p:sp>
        <p:nvSpPr>
          <p:cNvPr id="18" name="Rectangle 17"/>
          <p:cNvSpPr/>
          <p:nvPr/>
        </p:nvSpPr>
        <p:spPr>
          <a:xfrm>
            <a:off x="7955279" y="1298448"/>
            <a:ext cx="3840480" cy="5074920"/>
          </a:xfrm>
          <a:prstGeom prst="rect">
            <a:avLst/>
          </a:prstGeom>
          <a:solidFill>
            <a:srgbClr val="E7F6F4"/>
          </a:solidFill>
          <a:ln>
            <a:noFill/>
          </a:ln>
          <a:effectLst/>
        </p:spPr>
        <p:txBody>
          <a:bodyPr rtlCol="0" anchor="ctr"/>
          <a:lstStyle/>
          <a:p>
            <a:pPr algn="ctr"/>
          </a:p>
        </p:txBody>
      </p:sp>
      <p:sp>
        <p:nvSpPr>
          <p:cNvPr id="19" name="TextBox 18"/>
          <p:cNvSpPr txBox="1"/>
          <p:nvPr/>
        </p:nvSpPr>
        <p:spPr>
          <a:xfrm>
            <a:off x="8119872" y="1417320"/>
            <a:ext cx="3520440" cy="292608"/>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182D3D"/>
                </a:solidFill>
                <a:latin typeface="Calibri"/>
                <a:cs typeface="Calibri"/>
                <a:ea typeface="Calibri"/>
              </a:rPr>
              <a:t>AR is the price</a:t>
            </a:r>
          </a:p>
        </p:txBody>
      </p:sp>
      <p:sp>
        <p:nvSpPr>
          <p:cNvPr id="20" name="TextBox 19"/>
          <p:cNvSpPr txBox="1"/>
          <p:nvPr/>
        </p:nvSpPr>
        <p:spPr>
          <a:xfrm>
            <a:off x="8119872" y="1709928"/>
            <a:ext cx="3520440" cy="960120"/>
          </a:xfrm>
          <a:prstGeom prst="rect">
            <a:avLst/>
          </a:prstGeom>
          <a:noFill/>
        </p:spPr>
        <p:txBody>
          <a:bodyPr wrap="square" lIns="54864" rIns="54864" tIns="36576" bIns="18288" anchor="t"/>
          <a:lstStyle/>
          <a:p>
            <a:pPr algn="l">
              <a:lnSpc>
                <a:spcPct val="105000"/>
              </a:lnSpc>
              <a:spcBef>
                <a:spcPts val="0"/>
              </a:spcBef>
              <a:spcAft>
                <a:spcPts val="0"/>
              </a:spcAft>
            </a:pPr>
            <a:r>
              <a:rPr sz="1500" b="0" i="0">
                <a:solidFill>
                  <a:srgbClr val="1C2B36"/>
                </a:solidFill>
                <a:latin typeface="Calibri"/>
                <a:cs typeface="Calibri"/>
                <a:ea typeface="Calibri"/>
              </a:rPr>
              <a:t>One price for every unit, so AR is the demand curve.</a:t>
            </a:r>
          </a:p>
        </p:txBody>
      </p:sp>
      <p:sp>
        <p:nvSpPr>
          <p:cNvPr id="21" name="TextBox 20"/>
          <p:cNvSpPr txBox="1"/>
          <p:nvPr/>
        </p:nvSpPr>
        <p:spPr>
          <a:xfrm>
            <a:off x="8119872" y="2743200"/>
            <a:ext cx="3520440" cy="292608"/>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182D3D"/>
                </a:solidFill>
                <a:latin typeface="Calibri"/>
                <a:cs typeface="Calibri"/>
                <a:ea typeface="Calibri"/>
              </a:rPr>
              <a:t>MR falls faster</a:t>
            </a:r>
          </a:p>
        </p:txBody>
      </p:sp>
      <p:sp>
        <p:nvSpPr>
          <p:cNvPr id="22" name="TextBox 21"/>
          <p:cNvSpPr txBox="1"/>
          <p:nvPr/>
        </p:nvSpPr>
        <p:spPr>
          <a:xfrm>
            <a:off x="8119872" y="3035808"/>
            <a:ext cx="3520440" cy="960120"/>
          </a:xfrm>
          <a:prstGeom prst="rect">
            <a:avLst/>
          </a:prstGeom>
          <a:noFill/>
        </p:spPr>
        <p:txBody>
          <a:bodyPr wrap="square" lIns="54864" rIns="54864" tIns="36576" bIns="18288" anchor="t"/>
          <a:lstStyle/>
          <a:p>
            <a:pPr algn="l">
              <a:lnSpc>
                <a:spcPct val="105000"/>
              </a:lnSpc>
              <a:spcBef>
                <a:spcPts val="0"/>
              </a:spcBef>
              <a:spcAft>
                <a:spcPts val="0"/>
              </a:spcAft>
            </a:pPr>
            <a:r>
              <a:rPr sz="1500" b="0" i="0">
                <a:solidFill>
                  <a:srgbClr val="1C2B36"/>
                </a:solidFill>
                <a:latin typeface="Calibri"/>
                <a:cs typeface="Calibri"/>
                <a:ea typeface="Calibri"/>
              </a:rPr>
              <a:t>The cut in price also hits the units already sold.</a:t>
            </a:r>
          </a:p>
        </p:txBody>
      </p:sp>
      <p:sp>
        <p:nvSpPr>
          <p:cNvPr id="23" name="TextBox 22"/>
          <p:cNvSpPr txBox="1"/>
          <p:nvPr/>
        </p:nvSpPr>
        <p:spPr>
          <a:xfrm>
            <a:off x="8119872" y="4069080"/>
            <a:ext cx="3520440" cy="292608"/>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182D3D"/>
                </a:solidFill>
                <a:latin typeface="Calibri"/>
                <a:cs typeface="Calibri"/>
                <a:ea typeface="Calibri"/>
              </a:rPr>
              <a:t>MR hits zero first</a:t>
            </a:r>
          </a:p>
        </p:txBody>
      </p:sp>
      <p:sp>
        <p:nvSpPr>
          <p:cNvPr id="24" name="TextBox 23"/>
          <p:cNvSpPr txBox="1"/>
          <p:nvPr/>
        </p:nvSpPr>
        <p:spPr>
          <a:xfrm>
            <a:off x="8119872" y="4361688"/>
            <a:ext cx="3520440" cy="960120"/>
          </a:xfrm>
          <a:prstGeom prst="rect">
            <a:avLst/>
          </a:prstGeom>
          <a:noFill/>
        </p:spPr>
        <p:txBody>
          <a:bodyPr wrap="square" lIns="54864" rIns="54864" tIns="36576" bIns="18288" anchor="t"/>
          <a:lstStyle/>
          <a:p>
            <a:pPr algn="l">
              <a:lnSpc>
                <a:spcPct val="105000"/>
              </a:lnSpc>
              <a:spcBef>
                <a:spcPts val="0"/>
              </a:spcBef>
              <a:spcAft>
                <a:spcPts val="0"/>
              </a:spcAft>
            </a:pPr>
            <a:r>
              <a:rPr sz="1500" b="0" i="0">
                <a:solidFill>
                  <a:srgbClr val="1C2B36"/>
                </a:solidFill>
                <a:latin typeface="Calibri"/>
                <a:cs typeface="Calibri"/>
                <a:ea typeface="Calibri"/>
              </a:rPr>
              <a:t>After that, selling more lowers total revenue.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ELASTICITY</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A higher price can raise revenue</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9/44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53312"/>
            <a:ext cx="91440" cy="1578864"/>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40080" y="1499616"/>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Where demand is price elastic, MR is positive. A price cut raises total revenue, because the percentage rise in quantity is larger than the percentage fall in price. Where demand is price inelastic, MR is negative. A price rise raises total revenue.</a:t>
            </a:r>
          </a:p>
        </p:txBody>
      </p:sp>
      <p:sp>
        <p:nvSpPr>
          <p:cNvPr id="12" name="Rectangle 11"/>
          <p:cNvSpPr/>
          <p:nvPr/>
        </p:nvSpPr>
        <p:spPr>
          <a:xfrm>
            <a:off x="384048" y="3078479"/>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3" name="Rectangle 12"/>
          <p:cNvSpPr/>
          <p:nvPr/>
        </p:nvSpPr>
        <p:spPr>
          <a:xfrm>
            <a:off x="384048" y="3078479"/>
            <a:ext cx="91440" cy="1578864"/>
          </a:xfrm>
          <a:prstGeom prst="rect">
            <a:avLst/>
          </a:prstGeom>
          <a:solidFill>
            <a:srgbClr val="55CDC0"/>
          </a:solidFill>
          <a:ln>
            <a:noFill/>
          </a:ln>
          <a:effectLst/>
        </p:spPr>
        <p:txBody>
          <a:bodyPr rtlCol="0" anchor="ctr"/>
          <a:lstStyle/>
          <a:p>
            <a:pPr algn="ctr"/>
          </a:p>
        </p:txBody>
      </p:sp>
      <p:sp>
        <p:nvSpPr>
          <p:cNvPr id="14" name="TextBox 13"/>
          <p:cNvSpPr txBox="1"/>
          <p:nvPr/>
        </p:nvSpPr>
        <p:spPr>
          <a:xfrm>
            <a:off x="640080" y="3224783"/>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Total revenue is maximised where MR is zero and demand is unit elastic. That output is not the profit-maximising output unless marginal cost happens to be zero, which it is not.</a:t>
            </a:r>
          </a:p>
        </p:txBody>
      </p:sp>
      <p:sp>
        <p:nvSpPr>
          <p:cNvPr id="15" name="Rectangle 14"/>
          <p:cNvSpPr/>
          <p:nvPr/>
        </p:nvSpPr>
        <p:spPr>
          <a:xfrm>
            <a:off x="384048" y="4803648"/>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6" name="Rectangle 15"/>
          <p:cNvSpPr/>
          <p:nvPr/>
        </p:nvSpPr>
        <p:spPr>
          <a:xfrm>
            <a:off x="384048" y="4803648"/>
            <a:ext cx="91440" cy="1578864"/>
          </a:xfrm>
          <a:prstGeom prst="rect">
            <a:avLst/>
          </a:prstGeom>
          <a:solidFill>
            <a:srgbClr val="55CDC0"/>
          </a:solidFill>
          <a:ln>
            <a:noFill/>
          </a:ln>
          <a:effectLst/>
        </p:spPr>
        <p:txBody>
          <a:bodyPr rtlCol="0" anchor="ctr"/>
          <a:lstStyle/>
          <a:p>
            <a:pPr algn="ctr"/>
          </a:p>
        </p:txBody>
      </p:sp>
      <p:sp>
        <p:nvSpPr>
          <p:cNvPr id="17" name="TextBox 16"/>
          <p:cNvSpPr txBox="1"/>
          <p:nvPr/>
        </p:nvSpPr>
        <p:spPr>
          <a:xfrm>
            <a:off x="640080" y="4949952"/>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MCQ trap: inelastic demand and a price rise raises TR.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THE DIAGRAM</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Profit is maximised at 8, not at 16</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10/44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20040" y="1298448"/>
            <a:ext cx="7498079" cy="5074920"/>
          </a:xfrm>
          <a:prstGeom prst="rect">
            <a:avLst/>
          </a:prstGeom>
          <a:solidFill>
            <a:srgbClr val="FFFFFF"/>
          </a:solidFill>
          <a:ln w="12700">
            <a:solidFill>
              <a:srgbClr val="D5E2E6"/>
            </a:solidFill>
          </a:ln>
          <a:effectLst/>
        </p:spPr>
        <p:txBody>
          <a:bodyPr rtlCol="0" anchor="ctr"/>
          <a:lstStyle/>
          <a:p>
            <a:pPr algn="ctr"/>
          </a:p>
        </p:txBody>
      </p:sp>
      <p:cxnSp>
        <p:nvCxnSpPr>
          <p:cNvPr id="10" name="Connector 9"/>
          <p:cNvCxnSpPr/>
          <p:nvPr/>
        </p:nvCxnSpPr>
        <p:spPr>
          <a:xfrm>
            <a:off x="822960" y="5870448"/>
            <a:ext cx="6830567" cy="0"/>
          </a:xfrm>
          <a:prstGeom prst="line">
            <a:avLst/>
          </a:prstGeom>
          <a:ln w="22225">
            <a:solidFill>
              <a:srgbClr val="182D3D"/>
            </a:solidFill>
          </a:ln>
        </p:spPr>
      </p:cxnSp>
      <p:cxnSp>
        <p:nvCxnSpPr>
          <p:cNvPr id="11" name="Connector 10"/>
          <p:cNvCxnSpPr/>
          <p:nvPr/>
        </p:nvCxnSpPr>
        <p:spPr>
          <a:xfrm flipV="1">
            <a:off x="822960" y="1755648"/>
            <a:ext cx="0" cy="4114800"/>
          </a:xfrm>
          <a:prstGeom prst="line">
            <a:avLst/>
          </a:prstGeom>
          <a:ln w="22225">
            <a:solidFill>
              <a:srgbClr val="182D3D"/>
            </a:solidFill>
          </a:ln>
        </p:spPr>
      </p:cxnSp>
      <p:sp>
        <p:nvSpPr>
          <p:cNvPr id="12" name="TextBox 11"/>
          <p:cNvSpPr txBox="1"/>
          <p:nvPr/>
        </p:nvSpPr>
        <p:spPr>
          <a:xfrm>
            <a:off x="2903220" y="5989320"/>
            <a:ext cx="2560320" cy="292608"/>
          </a:xfrm>
          <a:prstGeom prst="rect">
            <a:avLst/>
          </a:prstGeom>
          <a:noFill/>
        </p:spPr>
        <p:txBody>
          <a:bodyPr wrap="square" lIns="54864" rIns="54864" tIns="36576" bIns="18288" anchor="t"/>
          <a:lstStyle/>
          <a:p>
            <a:pPr algn="ctr">
              <a:lnSpc>
                <a:spcPct val="105000"/>
              </a:lnSpc>
              <a:spcBef>
                <a:spcPts val="0"/>
              </a:spcBef>
              <a:spcAft>
                <a:spcPts val="0"/>
              </a:spcAft>
            </a:pPr>
            <a:r>
              <a:rPr sz="1400" b="1" i="0">
                <a:solidFill>
                  <a:srgbClr val="182D3D"/>
                </a:solidFill>
                <a:latin typeface="Calibri"/>
                <a:cs typeface="Calibri"/>
                <a:ea typeface="Calibri"/>
              </a:rPr>
              <a:t>Output</a:t>
            </a:r>
          </a:p>
        </p:txBody>
      </p:sp>
      <p:sp>
        <p:nvSpPr>
          <p:cNvPr id="13" name="TextBox 12"/>
          <p:cNvSpPr txBox="1"/>
          <p:nvPr/>
        </p:nvSpPr>
        <p:spPr>
          <a:xfrm>
            <a:off x="411479" y="1371600"/>
            <a:ext cx="3108960" cy="292608"/>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182D3D"/>
                </a:solidFill>
                <a:latin typeface="Calibri"/>
                <a:cs typeface="Calibri"/>
                <a:ea typeface="Calibri"/>
              </a:rPr>
              <a:t>£</a:t>
            </a:r>
          </a:p>
        </p:txBody>
      </p:sp>
      <p:cxnSp>
        <p:nvCxnSpPr>
          <p:cNvPr id="14" name="Connector 13"/>
          <p:cNvCxnSpPr/>
          <p:nvPr/>
        </p:nvCxnSpPr>
        <p:spPr>
          <a:xfrm>
            <a:off x="1226210" y="2496312"/>
            <a:ext cx="5914339" cy="1975104"/>
          </a:xfrm>
          <a:prstGeom prst="line">
            <a:avLst/>
          </a:prstGeom>
          <a:ln w="31750">
            <a:solidFill>
              <a:srgbClr val="0E7C7B"/>
            </a:solidFill>
          </a:ln>
        </p:spPr>
      </p:cxnSp>
      <p:cxnSp>
        <p:nvCxnSpPr>
          <p:cNvPr id="15" name="Connector 14"/>
          <p:cNvCxnSpPr/>
          <p:nvPr/>
        </p:nvCxnSpPr>
        <p:spPr>
          <a:xfrm>
            <a:off x="1226210" y="2496312"/>
            <a:ext cx="4973422" cy="3127248"/>
          </a:xfrm>
          <a:prstGeom prst="line">
            <a:avLst/>
          </a:prstGeom>
          <a:ln w="30480">
            <a:solidFill>
              <a:srgbClr val="9C3B3B"/>
            </a:solidFill>
          </a:ln>
        </p:spPr>
      </p:cxnSp>
      <p:cxnSp>
        <p:nvCxnSpPr>
          <p:cNvPr id="16" name="Connector 15"/>
          <p:cNvCxnSpPr/>
          <p:nvPr/>
        </p:nvCxnSpPr>
        <p:spPr>
          <a:xfrm flipV="1">
            <a:off x="1360627" y="4224527"/>
            <a:ext cx="2150669" cy="740665"/>
          </a:xfrm>
          <a:prstGeom prst="line">
            <a:avLst/>
          </a:prstGeom>
          <a:ln w="31750">
            <a:solidFill>
              <a:srgbClr val="182D3D"/>
            </a:solidFill>
          </a:ln>
        </p:spPr>
      </p:cxnSp>
      <p:cxnSp>
        <p:nvCxnSpPr>
          <p:cNvPr id="17" name="Connector 16"/>
          <p:cNvCxnSpPr/>
          <p:nvPr/>
        </p:nvCxnSpPr>
        <p:spPr>
          <a:xfrm flipV="1">
            <a:off x="3511296" y="3072384"/>
            <a:ext cx="3494836" cy="1152143"/>
          </a:xfrm>
          <a:prstGeom prst="line">
            <a:avLst/>
          </a:prstGeom>
          <a:ln w="31750">
            <a:solidFill>
              <a:srgbClr val="182D3D"/>
            </a:solidFill>
          </a:ln>
        </p:spPr>
      </p:cxnSp>
      <p:sp>
        <p:nvSpPr>
          <p:cNvPr id="18" name="Oval 17"/>
          <p:cNvSpPr/>
          <p:nvPr/>
        </p:nvSpPr>
        <p:spPr>
          <a:xfrm>
            <a:off x="3447288" y="4160519"/>
            <a:ext cx="128016" cy="128016"/>
          </a:xfrm>
          <a:prstGeom prst="ellipse">
            <a:avLst/>
          </a:prstGeom>
          <a:solidFill>
            <a:srgbClr val="182D3D"/>
          </a:solidFill>
          <a:ln>
            <a:noFill/>
          </a:ln>
          <a:effectLst/>
        </p:spPr>
        <p:txBody>
          <a:bodyPr rtlCol="0" anchor="ctr"/>
          <a:lstStyle/>
          <a:p>
            <a:pPr algn="ctr"/>
          </a:p>
        </p:txBody>
      </p:sp>
      <p:sp>
        <p:nvSpPr>
          <p:cNvPr id="19" name="Oval 18"/>
          <p:cNvSpPr/>
          <p:nvPr/>
        </p:nvSpPr>
        <p:spPr>
          <a:xfrm>
            <a:off x="3447288" y="3337560"/>
            <a:ext cx="128016" cy="128016"/>
          </a:xfrm>
          <a:prstGeom prst="ellipse">
            <a:avLst/>
          </a:prstGeom>
          <a:solidFill>
            <a:srgbClr val="0E7C7B"/>
          </a:solidFill>
          <a:ln>
            <a:noFill/>
          </a:ln>
          <a:effectLst/>
        </p:spPr>
        <p:txBody>
          <a:bodyPr rtlCol="0" anchor="ctr"/>
          <a:lstStyle/>
          <a:p>
            <a:pPr algn="ctr"/>
          </a:p>
        </p:txBody>
      </p:sp>
      <p:cxnSp>
        <p:nvCxnSpPr>
          <p:cNvPr id="20" name="Connector 19"/>
          <p:cNvCxnSpPr/>
          <p:nvPr/>
        </p:nvCxnSpPr>
        <p:spPr>
          <a:xfrm>
            <a:off x="3511296" y="3401568"/>
            <a:ext cx="0" cy="2468880"/>
          </a:xfrm>
          <a:prstGeom prst="line">
            <a:avLst/>
          </a:prstGeom>
          <a:ln w="12700">
            <a:solidFill>
              <a:srgbClr val="5E707A"/>
            </a:solidFill>
          </a:ln>
        </p:spPr>
      </p:cxnSp>
      <p:cxnSp>
        <p:nvCxnSpPr>
          <p:cNvPr id="21" name="Connector 20"/>
          <p:cNvCxnSpPr/>
          <p:nvPr/>
        </p:nvCxnSpPr>
        <p:spPr>
          <a:xfrm>
            <a:off x="822960" y="3401568"/>
            <a:ext cx="2688336" cy="0"/>
          </a:xfrm>
          <a:prstGeom prst="line">
            <a:avLst/>
          </a:prstGeom>
          <a:ln w="12700">
            <a:solidFill>
              <a:srgbClr val="5E707A"/>
            </a:solidFill>
          </a:ln>
        </p:spPr>
      </p:cxnSp>
      <p:sp>
        <p:nvSpPr>
          <p:cNvPr id="22" name="TextBox 21"/>
          <p:cNvSpPr txBox="1"/>
          <p:nvPr/>
        </p:nvSpPr>
        <p:spPr>
          <a:xfrm>
            <a:off x="3584448" y="2939796"/>
            <a:ext cx="54864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8</a:t>
            </a:r>
          </a:p>
        </p:txBody>
      </p:sp>
      <p:sp>
        <p:nvSpPr>
          <p:cNvPr id="23" name="TextBox 22"/>
          <p:cNvSpPr txBox="1"/>
          <p:nvPr/>
        </p:nvSpPr>
        <p:spPr>
          <a:xfrm>
            <a:off x="6071158" y="5351526"/>
            <a:ext cx="6400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9C3B3B"/>
                </a:solidFill>
                <a:latin typeface="Calibri"/>
                <a:cs typeface="Calibri"/>
                <a:ea typeface="Calibri"/>
              </a:rPr>
              <a:t>16</a:t>
            </a:r>
          </a:p>
        </p:txBody>
      </p:sp>
      <p:sp>
        <p:nvSpPr>
          <p:cNvPr id="24" name="TextBox 23"/>
          <p:cNvSpPr txBox="1"/>
          <p:nvPr/>
        </p:nvSpPr>
        <p:spPr>
          <a:xfrm>
            <a:off x="6379768" y="3886199"/>
            <a:ext cx="640080" cy="292608"/>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0E7C7B"/>
                </a:solidFill>
                <a:latin typeface="Calibri"/>
                <a:cs typeface="Calibri"/>
                <a:ea typeface="Calibri"/>
              </a:rPr>
              <a:t>AR</a:t>
            </a:r>
          </a:p>
        </p:txBody>
      </p:sp>
      <p:sp>
        <p:nvSpPr>
          <p:cNvPr id="25" name="TextBox 24"/>
          <p:cNvSpPr txBox="1"/>
          <p:nvPr/>
        </p:nvSpPr>
        <p:spPr>
          <a:xfrm>
            <a:off x="5035600" y="4914900"/>
            <a:ext cx="640080" cy="292608"/>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9C3B3B"/>
                </a:solidFill>
                <a:latin typeface="Calibri"/>
                <a:cs typeface="Calibri"/>
                <a:ea typeface="Calibri"/>
              </a:rPr>
              <a:t>MR</a:t>
            </a:r>
          </a:p>
        </p:txBody>
      </p:sp>
      <p:sp>
        <p:nvSpPr>
          <p:cNvPr id="26" name="TextBox 25"/>
          <p:cNvSpPr txBox="1"/>
          <p:nvPr/>
        </p:nvSpPr>
        <p:spPr>
          <a:xfrm>
            <a:off x="6486753" y="3273552"/>
            <a:ext cx="640080" cy="292608"/>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182D3D"/>
                </a:solidFill>
                <a:latin typeface="Calibri"/>
                <a:cs typeface="Calibri"/>
                <a:ea typeface="Calibri"/>
              </a:rPr>
              <a:t>MC</a:t>
            </a:r>
          </a:p>
        </p:txBody>
      </p:sp>
      <p:sp>
        <p:nvSpPr>
          <p:cNvPr id="27" name="Rectangle 26"/>
          <p:cNvSpPr/>
          <p:nvPr/>
        </p:nvSpPr>
        <p:spPr>
          <a:xfrm>
            <a:off x="7955279" y="1298448"/>
            <a:ext cx="3840480" cy="5074920"/>
          </a:xfrm>
          <a:prstGeom prst="rect">
            <a:avLst/>
          </a:prstGeom>
          <a:solidFill>
            <a:srgbClr val="E7F6F4"/>
          </a:solidFill>
          <a:ln>
            <a:noFill/>
          </a:ln>
          <a:effectLst/>
        </p:spPr>
        <p:txBody>
          <a:bodyPr rtlCol="0" anchor="ctr"/>
          <a:lstStyle/>
          <a:p>
            <a:pPr algn="ctr"/>
          </a:p>
        </p:txBody>
      </p:sp>
      <p:sp>
        <p:nvSpPr>
          <p:cNvPr id="28" name="TextBox 27"/>
          <p:cNvSpPr txBox="1"/>
          <p:nvPr/>
        </p:nvSpPr>
        <p:spPr>
          <a:xfrm>
            <a:off x="8119872" y="1417320"/>
            <a:ext cx="3520440" cy="292608"/>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182D3D"/>
                </a:solidFill>
                <a:latin typeface="Calibri"/>
                <a:cs typeface="Calibri"/>
                <a:ea typeface="Calibri"/>
              </a:rPr>
              <a:t>Profit max</a:t>
            </a:r>
          </a:p>
        </p:txBody>
      </p:sp>
      <p:sp>
        <p:nvSpPr>
          <p:cNvPr id="29" name="TextBox 28"/>
          <p:cNvSpPr txBox="1"/>
          <p:nvPr/>
        </p:nvSpPr>
        <p:spPr>
          <a:xfrm>
            <a:off x="8119872" y="1709928"/>
            <a:ext cx="3520440" cy="960120"/>
          </a:xfrm>
          <a:prstGeom prst="rect">
            <a:avLst/>
          </a:prstGeom>
          <a:noFill/>
        </p:spPr>
        <p:txBody>
          <a:bodyPr wrap="square" lIns="54864" rIns="54864" tIns="36576" bIns="18288" anchor="t"/>
          <a:lstStyle/>
          <a:p>
            <a:pPr algn="l">
              <a:lnSpc>
                <a:spcPct val="105000"/>
              </a:lnSpc>
              <a:spcBef>
                <a:spcPts val="0"/>
              </a:spcBef>
              <a:spcAft>
                <a:spcPts val="0"/>
              </a:spcAft>
            </a:pPr>
            <a:r>
              <a:rPr sz="1500" b="0" i="0">
                <a:solidFill>
                  <a:srgbClr val="1C2B36"/>
                </a:solidFill>
                <a:latin typeface="Calibri"/>
                <a:cs typeface="Calibri"/>
                <a:ea typeface="Calibri"/>
              </a:rPr>
              <a:t>MC cuts MR from below at 8 units. Stop there.</a:t>
            </a:r>
          </a:p>
        </p:txBody>
      </p:sp>
      <p:sp>
        <p:nvSpPr>
          <p:cNvPr id="30" name="TextBox 29"/>
          <p:cNvSpPr txBox="1"/>
          <p:nvPr/>
        </p:nvSpPr>
        <p:spPr>
          <a:xfrm>
            <a:off x="8119872" y="2743200"/>
            <a:ext cx="3520440" cy="292608"/>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182D3D"/>
                </a:solidFill>
                <a:latin typeface="Calibri"/>
                <a:cs typeface="Calibri"/>
                <a:ea typeface="Calibri"/>
              </a:rPr>
              <a:t>Not profit max</a:t>
            </a:r>
          </a:p>
        </p:txBody>
      </p:sp>
      <p:sp>
        <p:nvSpPr>
          <p:cNvPr id="31" name="TextBox 30"/>
          <p:cNvSpPr txBox="1"/>
          <p:nvPr/>
        </p:nvSpPr>
        <p:spPr>
          <a:xfrm>
            <a:off x="8119872" y="3035808"/>
            <a:ext cx="3520440" cy="960120"/>
          </a:xfrm>
          <a:prstGeom prst="rect">
            <a:avLst/>
          </a:prstGeom>
          <a:noFill/>
        </p:spPr>
        <p:txBody>
          <a:bodyPr wrap="square" lIns="54864" rIns="54864" tIns="36576" bIns="18288" anchor="t"/>
          <a:lstStyle/>
          <a:p>
            <a:pPr algn="l">
              <a:lnSpc>
                <a:spcPct val="105000"/>
              </a:lnSpc>
              <a:spcBef>
                <a:spcPts val="0"/>
              </a:spcBef>
              <a:spcAft>
                <a:spcPts val="0"/>
              </a:spcAft>
            </a:pPr>
            <a:r>
              <a:rPr sz="1500" b="0" i="0">
                <a:solidFill>
                  <a:srgbClr val="1C2B36"/>
                </a:solidFill>
                <a:latin typeface="Calibri"/>
                <a:cs typeface="Calibri"/>
                <a:ea typeface="Calibri"/>
              </a:rPr>
              <a:t>MR is zero at 16. That maximises total revenue.</a:t>
            </a:r>
          </a:p>
        </p:txBody>
      </p:sp>
      <p:sp>
        <p:nvSpPr>
          <p:cNvPr id="32" name="TextBox 31"/>
          <p:cNvSpPr txBox="1"/>
          <p:nvPr/>
        </p:nvSpPr>
        <p:spPr>
          <a:xfrm>
            <a:off x="8119872" y="4069080"/>
            <a:ext cx="3520440" cy="292608"/>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182D3D"/>
                </a:solidFill>
                <a:latin typeface="Calibri"/>
                <a:cs typeface="Calibri"/>
                <a:ea typeface="Calibri"/>
              </a:rPr>
              <a:t>Read the gap</a:t>
            </a:r>
          </a:p>
        </p:txBody>
      </p:sp>
      <p:sp>
        <p:nvSpPr>
          <p:cNvPr id="33" name="TextBox 32"/>
          <p:cNvSpPr txBox="1"/>
          <p:nvPr/>
        </p:nvSpPr>
        <p:spPr>
          <a:xfrm>
            <a:off x="8119872" y="4361688"/>
            <a:ext cx="3520440" cy="960120"/>
          </a:xfrm>
          <a:prstGeom prst="rect">
            <a:avLst/>
          </a:prstGeom>
          <a:noFill/>
        </p:spPr>
        <p:txBody>
          <a:bodyPr wrap="square" lIns="54864" rIns="54864" tIns="36576" bIns="18288" anchor="t"/>
          <a:lstStyle/>
          <a:p>
            <a:pPr algn="l">
              <a:lnSpc>
                <a:spcPct val="105000"/>
              </a:lnSpc>
              <a:spcBef>
                <a:spcPts val="0"/>
              </a:spcBef>
              <a:spcAft>
                <a:spcPts val="0"/>
              </a:spcAft>
            </a:pPr>
            <a:r>
              <a:rPr sz="1500" b="0" i="0">
                <a:solidFill>
                  <a:srgbClr val="1C2B36"/>
                </a:solidFill>
                <a:latin typeface="Calibri"/>
                <a:cs typeface="Calibri"/>
                <a:ea typeface="Calibri"/>
              </a:rPr>
              <a:t>At 8 units, AR is still above MC. Extra units past 8 add more cost than revenue.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THE RULE</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MC equals MR, and MC is rising</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11/44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53312"/>
            <a:ext cx="91440" cy="1578864"/>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40080" y="1499616"/>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On Figure 5, MC cuts MR from below at 8 units. That is the profit-maximising output. At 16 units MR is zero, so total revenue is at its maximum, but MC is above MR. Units 9 to 16 each add more to cost than to revenue, so profit is falling.</a:t>
            </a:r>
          </a:p>
        </p:txBody>
      </p:sp>
      <p:sp>
        <p:nvSpPr>
          <p:cNvPr id="12" name="Rectangle 11"/>
          <p:cNvSpPr/>
          <p:nvPr/>
        </p:nvSpPr>
        <p:spPr>
          <a:xfrm>
            <a:off x="384048" y="3078479"/>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3" name="Rectangle 12"/>
          <p:cNvSpPr/>
          <p:nvPr/>
        </p:nvSpPr>
        <p:spPr>
          <a:xfrm>
            <a:off x="384048" y="3078479"/>
            <a:ext cx="91440" cy="1578864"/>
          </a:xfrm>
          <a:prstGeom prst="rect">
            <a:avLst/>
          </a:prstGeom>
          <a:solidFill>
            <a:srgbClr val="55CDC0"/>
          </a:solidFill>
          <a:ln>
            <a:noFill/>
          </a:ln>
          <a:effectLst/>
        </p:spPr>
        <p:txBody>
          <a:bodyPr rtlCol="0" anchor="ctr"/>
          <a:lstStyle/>
          <a:p>
            <a:pPr algn="ctr"/>
          </a:p>
        </p:txBody>
      </p:sp>
      <p:sp>
        <p:nvSpPr>
          <p:cNvPr id="14" name="TextBox 13"/>
          <p:cNvSpPr txBox="1"/>
          <p:nvPr/>
        </p:nvSpPr>
        <p:spPr>
          <a:xfrm>
            <a:off x="640080" y="3224783"/>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Check the slope. If MC cut MR from above, the equality would be a profit minimum, not a maximum. In the answers you will see, MC is rising. Say so when the diagram shows it.</a:t>
            </a:r>
          </a:p>
        </p:txBody>
      </p:sp>
      <p:sp>
        <p:nvSpPr>
          <p:cNvPr id="15" name="Rectangle 14"/>
          <p:cNvSpPr/>
          <p:nvPr/>
        </p:nvSpPr>
        <p:spPr>
          <a:xfrm>
            <a:off x="384048" y="4803648"/>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6" name="Rectangle 15"/>
          <p:cNvSpPr/>
          <p:nvPr/>
        </p:nvSpPr>
        <p:spPr>
          <a:xfrm>
            <a:off x="384048" y="4803648"/>
            <a:ext cx="91440" cy="1578864"/>
          </a:xfrm>
          <a:prstGeom prst="rect">
            <a:avLst/>
          </a:prstGeom>
          <a:solidFill>
            <a:srgbClr val="55CDC0"/>
          </a:solidFill>
          <a:ln>
            <a:noFill/>
          </a:ln>
          <a:effectLst/>
        </p:spPr>
        <p:txBody>
          <a:bodyPr rtlCol="0" anchor="ctr"/>
          <a:lstStyle/>
          <a:p>
            <a:pPr algn="ctr"/>
          </a:p>
        </p:txBody>
      </p:sp>
      <p:sp>
        <p:nvSpPr>
          <p:cNvPr id="17" name="TextBox 16"/>
          <p:cNvSpPr txBox="1"/>
          <p:nvPr/>
        </p:nvSpPr>
        <p:spPr>
          <a:xfrm>
            <a:off x="640080" y="4949952"/>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Figure 5: MR = 16 − Q, MC = 4 + 0.5Q, equal at Q = 8. MR = 0 at Q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PROFIT</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Normal profit is already inside cost</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12/44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5623560" cy="5029200"/>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6172200" y="1353312"/>
            <a:ext cx="5623560" cy="5029200"/>
          </a:xfrm>
          <a:prstGeom prst="rect">
            <a:avLst/>
          </a:prstGeom>
          <a:solidFill>
            <a:srgbClr val="FFFFFF"/>
          </a:solidFill>
          <a:ln w="12700">
            <a:solidFill>
              <a:srgbClr val="D5E2E6"/>
            </a:solidFill>
          </a:ln>
          <a:effectLst/>
        </p:spPr>
        <p:txBody>
          <a:bodyPr rtlCol="0" anchor="ctr"/>
          <a:lstStyle/>
          <a:p>
            <a:pPr algn="ctr"/>
          </a:p>
        </p:txBody>
      </p:sp>
      <p:sp>
        <p:nvSpPr>
          <p:cNvPr id="11" name="Rectangle 10"/>
          <p:cNvSpPr/>
          <p:nvPr/>
        </p:nvSpPr>
        <p:spPr>
          <a:xfrm>
            <a:off x="384048" y="1353312"/>
            <a:ext cx="5623560" cy="640080"/>
          </a:xfrm>
          <a:prstGeom prst="rect">
            <a:avLst/>
          </a:prstGeom>
          <a:solidFill>
            <a:srgbClr val="182D3D"/>
          </a:solidFill>
          <a:ln>
            <a:noFill/>
          </a:ln>
          <a:effectLst/>
        </p:spPr>
        <p:txBody>
          <a:bodyPr rtlCol="0" anchor="ctr"/>
          <a:lstStyle/>
          <a:p>
            <a:pPr algn="ctr"/>
          </a:p>
        </p:txBody>
      </p:sp>
      <p:sp>
        <p:nvSpPr>
          <p:cNvPr id="12" name="Rectangle 11"/>
          <p:cNvSpPr/>
          <p:nvPr/>
        </p:nvSpPr>
        <p:spPr>
          <a:xfrm>
            <a:off x="6172200" y="1353312"/>
            <a:ext cx="5623560" cy="640080"/>
          </a:xfrm>
          <a:prstGeom prst="rect">
            <a:avLst/>
          </a:prstGeom>
          <a:solidFill>
            <a:srgbClr val="0E7C7B"/>
          </a:solidFill>
          <a:ln>
            <a:noFill/>
          </a:ln>
          <a:effectLst/>
        </p:spPr>
        <p:txBody>
          <a:bodyPr rtlCol="0" anchor="ctr"/>
          <a:lstStyle/>
          <a:p>
            <a:pPr algn="ctr"/>
          </a:p>
        </p:txBody>
      </p:sp>
      <p:sp>
        <p:nvSpPr>
          <p:cNvPr id="13" name="TextBox 12"/>
          <p:cNvSpPr txBox="1"/>
          <p:nvPr/>
        </p:nvSpPr>
        <p:spPr>
          <a:xfrm>
            <a:off x="502920" y="1463040"/>
            <a:ext cx="5394960" cy="45720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FFFFFF"/>
                </a:solidFill>
                <a:latin typeface="Calibri"/>
                <a:cs typeface="Calibri"/>
                <a:ea typeface="Calibri"/>
              </a:rPr>
              <a:t>Normal profit</a:t>
            </a:r>
          </a:p>
        </p:txBody>
      </p:sp>
      <p:sp>
        <p:nvSpPr>
          <p:cNvPr id="14" name="TextBox 13"/>
          <p:cNvSpPr txBox="1"/>
          <p:nvPr/>
        </p:nvSpPr>
        <p:spPr>
          <a:xfrm>
            <a:off x="6309360" y="1463040"/>
            <a:ext cx="5394960" cy="45720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FFFFFF"/>
                </a:solidFill>
                <a:latin typeface="Calibri"/>
                <a:cs typeface="Calibri"/>
                <a:ea typeface="Calibri"/>
              </a:rPr>
              <a:t>Supernormal profit</a:t>
            </a:r>
          </a:p>
        </p:txBody>
      </p:sp>
      <p:sp>
        <p:nvSpPr>
          <p:cNvPr id="15" name="TextBox 14"/>
          <p:cNvSpPr txBox="1"/>
          <p:nvPr/>
        </p:nvSpPr>
        <p:spPr>
          <a:xfrm>
            <a:off x="530352" y="214884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The minimum return that keeps resources in this use.</a:t>
            </a:r>
          </a:p>
        </p:txBody>
      </p:sp>
      <p:sp>
        <p:nvSpPr>
          <p:cNvPr id="16" name="TextBox 15"/>
          <p:cNvSpPr txBox="1"/>
          <p:nvPr/>
        </p:nvSpPr>
        <p:spPr>
          <a:xfrm>
            <a:off x="6327648" y="214884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Profit above that minimum.</a:t>
            </a:r>
          </a:p>
        </p:txBody>
      </p:sp>
      <p:sp>
        <p:nvSpPr>
          <p:cNvPr id="17" name="TextBox 16"/>
          <p:cNvSpPr txBox="1"/>
          <p:nvPr/>
        </p:nvSpPr>
        <p:spPr>
          <a:xfrm>
            <a:off x="530352" y="301752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Included in average cost. Earned when AR = AC.</a:t>
            </a:r>
          </a:p>
        </p:txBody>
      </p:sp>
      <p:sp>
        <p:nvSpPr>
          <p:cNvPr id="18" name="TextBox 17"/>
          <p:cNvSpPr txBox="1"/>
          <p:nvPr/>
        </p:nvSpPr>
        <p:spPr>
          <a:xfrm>
            <a:off x="6327648" y="301752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Earned when AR is above AC.</a:t>
            </a:r>
          </a:p>
        </p:txBody>
      </p:sp>
      <p:sp>
        <p:nvSpPr>
          <p:cNvPr id="19" name="TextBox 18"/>
          <p:cNvSpPr txBox="1"/>
          <p:nvPr/>
        </p:nvSpPr>
        <p:spPr>
          <a:xfrm>
            <a:off x="530352" y="388620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Enough to stay in the industry in the long run.</a:t>
            </a:r>
          </a:p>
        </p:txBody>
      </p:sp>
      <p:sp>
        <p:nvSpPr>
          <p:cNvPr id="20" name="TextBox 19"/>
          <p:cNvSpPr txBox="1"/>
          <p:nvPr/>
        </p:nvSpPr>
        <p:spPr>
          <a:xfrm>
            <a:off x="6327648" y="388620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Can be competed away, or kept if entry is blocked.</a:t>
            </a:r>
          </a:p>
        </p:txBody>
      </p:sp>
      <p:sp>
        <p:nvSpPr>
          <p:cNvPr id="21" name="TextBox 20"/>
          <p:cNvSpPr txBox="1"/>
          <p:nvPr/>
        </p:nvSpPr>
        <p:spPr>
          <a:xfrm>
            <a:off x="530352" y="475488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A loss is not the same idea. A loss means AR is below AC.</a:t>
            </a:r>
          </a:p>
        </p:txBody>
      </p:sp>
      <p:sp>
        <p:nvSpPr>
          <p:cNvPr id="22" name="TextBox 21"/>
          <p:cNvSpPr txBox="1"/>
          <p:nvPr/>
        </p:nvSpPr>
        <p:spPr>
          <a:xfrm>
            <a:off x="6327648" y="475488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AR $14 and AC $11 is $3 supernormal per unit.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THE DIAGRAM</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Short-run cost: one factor is fixed</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13/44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20040" y="1298448"/>
            <a:ext cx="7498079" cy="5074920"/>
          </a:xfrm>
          <a:prstGeom prst="rect">
            <a:avLst/>
          </a:prstGeom>
          <a:solidFill>
            <a:srgbClr val="FFFFFF"/>
          </a:solidFill>
          <a:ln w="12700">
            <a:solidFill>
              <a:srgbClr val="D5E2E6"/>
            </a:solidFill>
          </a:ln>
          <a:effectLst/>
        </p:spPr>
        <p:txBody>
          <a:bodyPr rtlCol="0" anchor="ctr"/>
          <a:lstStyle/>
          <a:p>
            <a:pPr algn="ctr"/>
          </a:p>
        </p:txBody>
      </p:sp>
      <p:cxnSp>
        <p:nvCxnSpPr>
          <p:cNvPr id="10" name="Connector 9"/>
          <p:cNvCxnSpPr/>
          <p:nvPr/>
        </p:nvCxnSpPr>
        <p:spPr>
          <a:xfrm>
            <a:off x="822960" y="5870448"/>
            <a:ext cx="6830567" cy="0"/>
          </a:xfrm>
          <a:prstGeom prst="line">
            <a:avLst/>
          </a:prstGeom>
          <a:ln w="22225">
            <a:solidFill>
              <a:srgbClr val="182D3D"/>
            </a:solidFill>
          </a:ln>
        </p:spPr>
      </p:cxnSp>
      <p:cxnSp>
        <p:nvCxnSpPr>
          <p:cNvPr id="11" name="Connector 10"/>
          <p:cNvCxnSpPr/>
          <p:nvPr/>
        </p:nvCxnSpPr>
        <p:spPr>
          <a:xfrm flipV="1">
            <a:off x="822960" y="1755648"/>
            <a:ext cx="0" cy="4114800"/>
          </a:xfrm>
          <a:prstGeom prst="line">
            <a:avLst/>
          </a:prstGeom>
          <a:ln w="22225">
            <a:solidFill>
              <a:srgbClr val="182D3D"/>
            </a:solidFill>
          </a:ln>
        </p:spPr>
      </p:cxnSp>
      <p:sp>
        <p:nvSpPr>
          <p:cNvPr id="12" name="TextBox 11"/>
          <p:cNvSpPr txBox="1"/>
          <p:nvPr/>
        </p:nvSpPr>
        <p:spPr>
          <a:xfrm>
            <a:off x="2903220" y="5989320"/>
            <a:ext cx="2560320" cy="292608"/>
          </a:xfrm>
          <a:prstGeom prst="rect">
            <a:avLst/>
          </a:prstGeom>
          <a:noFill/>
        </p:spPr>
        <p:txBody>
          <a:bodyPr wrap="square" lIns="54864" rIns="54864" tIns="36576" bIns="18288" anchor="t"/>
          <a:lstStyle/>
          <a:p>
            <a:pPr algn="ctr">
              <a:lnSpc>
                <a:spcPct val="105000"/>
              </a:lnSpc>
              <a:spcBef>
                <a:spcPts val="0"/>
              </a:spcBef>
              <a:spcAft>
                <a:spcPts val="0"/>
              </a:spcAft>
            </a:pPr>
            <a:r>
              <a:rPr sz="1400" b="1" i="0">
                <a:solidFill>
                  <a:srgbClr val="182D3D"/>
                </a:solidFill>
                <a:latin typeface="Calibri"/>
                <a:cs typeface="Calibri"/>
                <a:ea typeface="Calibri"/>
              </a:rPr>
              <a:t>Output</a:t>
            </a:r>
          </a:p>
        </p:txBody>
      </p:sp>
      <p:sp>
        <p:nvSpPr>
          <p:cNvPr id="13" name="TextBox 12"/>
          <p:cNvSpPr txBox="1"/>
          <p:nvPr/>
        </p:nvSpPr>
        <p:spPr>
          <a:xfrm>
            <a:off x="411479" y="1371600"/>
            <a:ext cx="3108960" cy="292608"/>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182D3D"/>
                </a:solidFill>
                <a:latin typeface="Calibri"/>
                <a:cs typeface="Calibri"/>
                <a:ea typeface="Calibri"/>
              </a:rPr>
              <a:t>Cost</a:t>
            </a:r>
          </a:p>
        </p:txBody>
      </p:sp>
      <p:cxnSp>
        <p:nvCxnSpPr>
          <p:cNvPr id="14" name="Connector 13"/>
          <p:cNvCxnSpPr/>
          <p:nvPr/>
        </p:nvCxnSpPr>
        <p:spPr>
          <a:xfrm>
            <a:off x="1629460" y="2825496"/>
            <a:ext cx="806501" cy="1563624"/>
          </a:xfrm>
          <a:prstGeom prst="line">
            <a:avLst/>
          </a:prstGeom>
          <a:ln w="31750">
            <a:solidFill>
              <a:srgbClr val="9C3B3B"/>
            </a:solidFill>
          </a:ln>
        </p:spPr>
      </p:cxnSp>
      <p:cxnSp>
        <p:nvCxnSpPr>
          <p:cNvPr id="15" name="Connector 14"/>
          <p:cNvCxnSpPr/>
          <p:nvPr/>
        </p:nvCxnSpPr>
        <p:spPr>
          <a:xfrm>
            <a:off x="2435961" y="4389120"/>
            <a:ext cx="806501" cy="534924"/>
          </a:xfrm>
          <a:prstGeom prst="line">
            <a:avLst/>
          </a:prstGeom>
          <a:ln w="31750">
            <a:solidFill>
              <a:srgbClr val="9C3B3B"/>
            </a:solidFill>
          </a:ln>
        </p:spPr>
      </p:cxnSp>
      <p:cxnSp>
        <p:nvCxnSpPr>
          <p:cNvPr id="16" name="Connector 15"/>
          <p:cNvCxnSpPr/>
          <p:nvPr/>
        </p:nvCxnSpPr>
        <p:spPr>
          <a:xfrm flipV="1">
            <a:off x="3242462" y="4512564"/>
            <a:ext cx="940918" cy="411480"/>
          </a:xfrm>
          <a:prstGeom prst="line">
            <a:avLst/>
          </a:prstGeom>
          <a:ln w="31750">
            <a:solidFill>
              <a:srgbClr val="9C3B3B"/>
            </a:solidFill>
          </a:ln>
        </p:spPr>
      </p:cxnSp>
      <p:cxnSp>
        <p:nvCxnSpPr>
          <p:cNvPr id="17" name="Connector 16"/>
          <p:cNvCxnSpPr/>
          <p:nvPr/>
        </p:nvCxnSpPr>
        <p:spPr>
          <a:xfrm flipV="1">
            <a:off x="4183380" y="3648456"/>
            <a:ext cx="1075334" cy="864108"/>
          </a:xfrm>
          <a:prstGeom prst="line">
            <a:avLst/>
          </a:prstGeom>
          <a:ln w="31750">
            <a:solidFill>
              <a:srgbClr val="9C3B3B"/>
            </a:solidFill>
          </a:ln>
        </p:spPr>
      </p:cxnSp>
      <p:cxnSp>
        <p:nvCxnSpPr>
          <p:cNvPr id="18" name="Connector 17"/>
          <p:cNvCxnSpPr/>
          <p:nvPr/>
        </p:nvCxnSpPr>
        <p:spPr>
          <a:xfrm flipV="1">
            <a:off x="5258714" y="2578608"/>
            <a:ext cx="1075334" cy="1069848"/>
          </a:xfrm>
          <a:prstGeom prst="line">
            <a:avLst/>
          </a:prstGeom>
          <a:ln w="31750">
            <a:solidFill>
              <a:srgbClr val="9C3B3B"/>
            </a:solidFill>
          </a:ln>
        </p:spPr>
      </p:cxnSp>
      <p:cxnSp>
        <p:nvCxnSpPr>
          <p:cNvPr id="19" name="Connector 18"/>
          <p:cNvCxnSpPr/>
          <p:nvPr/>
        </p:nvCxnSpPr>
        <p:spPr>
          <a:xfrm>
            <a:off x="1763877" y="2496312"/>
            <a:ext cx="1075334" cy="1481327"/>
          </a:xfrm>
          <a:prstGeom prst="line">
            <a:avLst/>
          </a:prstGeom>
          <a:ln w="27940">
            <a:solidFill>
              <a:srgbClr val="5E707A"/>
            </a:solidFill>
          </a:ln>
        </p:spPr>
      </p:cxnSp>
      <p:cxnSp>
        <p:nvCxnSpPr>
          <p:cNvPr id="20" name="Connector 19"/>
          <p:cNvCxnSpPr/>
          <p:nvPr/>
        </p:nvCxnSpPr>
        <p:spPr>
          <a:xfrm>
            <a:off x="2839211" y="3977639"/>
            <a:ext cx="1344169" cy="534925"/>
          </a:xfrm>
          <a:prstGeom prst="line">
            <a:avLst/>
          </a:prstGeom>
          <a:ln w="27940">
            <a:solidFill>
              <a:srgbClr val="5E707A"/>
            </a:solidFill>
          </a:ln>
        </p:spPr>
      </p:cxnSp>
      <p:cxnSp>
        <p:nvCxnSpPr>
          <p:cNvPr id="21" name="Connector 20"/>
          <p:cNvCxnSpPr/>
          <p:nvPr/>
        </p:nvCxnSpPr>
        <p:spPr>
          <a:xfrm flipV="1">
            <a:off x="4183380" y="4059935"/>
            <a:ext cx="1209751" cy="452629"/>
          </a:xfrm>
          <a:prstGeom prst="line">
            <a:avLst/>
          </a:prstGeom>
          <a:ln w="27940">
            <a:solidFill>
              <a:srgbClr val="5E707A"/>
            </a:solidFill>
          </a:ln>
        </p:spPr>
      </p:cxnSp>
      <p:cxnSp>
        <p:nvCxnSpPr>
          <p:cNvPr id="22" name="Connector 21"/>
          <p:cNvCxnSpPr/>
          <p:nvPr/>
        </p:nvCxnSpPr>
        <p:spPr>
          <a:xfrm flipV="1">
            <a:off x="5393131" y="3319272"/>
            <a:ext cx="940917" cy="740663"/>
          </a:xfrm>
          <a:prstGeom prst="line">
            <a:avLst/>
          </a:prstGeom>
          <a:ln w="27940">
            <a:solidFill>
              <a:srgbClr val="5E707A"/>
            </a:solidFill>
          </a:ln>
        </p:spPr>
      </p:cxnSp>
      <p:cxnSp>
        <p:nvCxnSpPr>
          <p:cNvPr id="23" name="Connector 22"/>
          <p:cNvCxnSpPr/>
          <p:nvPr/>
        </p:nvCxnSpPr>
        <p:spPr>
          <a:xfrm>
            <a:off x="1495044" y="2084832"/>
            <a:ext cx="1075334" cy="1316736"/>
          </a:xfrm>
          <a:prstGeom prst="line">
            <a:avLst/>
          </a:prstGeom>
          <a:ln w="33020">
            <a:solidFill>
              <a:srgbClr val="0E7C7B"/>
            </a:solidFill>
          </a:ln>
        </p:spPr>
      </p:cxnSp>
      <p:cxnSp>
        <p:nvCxnSpPr>
          <p:cNvPr id="24" name="Connector 23"/>
          <p:cNvCxnSpPr/>
          <p:nvPr/>
        </p:nvCxnSpPr>
        <p:spPr>
          <a:xfrm>
            <a:off x="2570378" y="3401568"/>
            <a:ext cx="1075334" cy="658367"/>
          </a:xfrm>
          <a:prstGeom prst="line">
            <a:avLst/>
          </a:prstGeom>
          <a:ln w="33020">
            <a:solidFill>
              <a:srgbClr val="0E7C7B"/>
            </a:solidFill>
          </a:ln>
        </p:spPr>
      </p:cxnSp>
      <p:cxnSp>
        <p:nvCxnSpPr>
          <p:cNvPr id="25" name="Connector 24"/>
          <p:cNvCxnSpPr/>
          <p:nvPr/>
        </p:nvCxnSpPr>
        <p:spPr>
          <a:xfrm>
            <a:off x="3645712" y="4059935"/>
            <a:ext cx="940918" cy="102871"/>
          </a:xfrm>
          <a:prstGeom prst="line">
            <a:avLst/>
          </a:prstGeom>
          <a:ln w="33020">
            <a:solidFill>
              <a:srgbClr val="0E7C7B"/>
            </a:solidFill>
          </a:ln>
        </p:spPr>
      </p:cxnSp>
      <p:cxnSp>
        <p:nvCxnSpPr>
          <p:cNvPr id="26" name="Connector 25"/>
          <p:cNvCxnSpPr/>
          <p:nvPr/>
        </p:nvCxnSpPr>
        <p:spPr>
          <a:xfrm flipV="1">
            <a:off x="4586630" y="3730752"/>
            <a:ext cx="1075334" cy="432054"/>
          </a:xfrm>
          <a:prstGeom prst="line">
            <a:avLst/>
          </a:prstGeom>
          <a:ln w="33020">
            <a:solidFill>
              <a:srgbClr val="0E7C7B"/>
            </a:solidFill>
          </a:ln>
        </p:spPr>
      </p:cxnSp>
      <p:cxnSp>
        <p:nvCxnSpPr>
          <p:cNvPr id="27" name="Connector 26"/>
          <p:cNvCxnSpPr/>
          <p:nvPr/>
        </p:nvCxnSpPr>
        <p:spPr>
          <a:xfrm flipV="1">
            <a:off x="5661964" y="2825496"/>
            <a:ext cx="940918" cy="905256"/>
          </a:xfrm>
          <a:prstGeom prst="line">
            <a:avLst/>
          </a:prstGeom>
          <a:ln w="33020">
            <a:solidFill>
              <a:srgbClr val="0E7C7B"/>
            </a:solidFill>
          </a:ln>
        </p:spPr>
      </p:cxnSp>
      <p:sp>
        <p:nvSpPr>
          <p:cNvPr id="28" name="Oval 27"/>
          <p:cNvSpPr/>
          <p:nvPr/>
        </p:nvSpPr>
        <p:spPr>
          <a:xfrm>
            <a:off x="4119372" y="4448556"/>
            <a:ext cx="128016" cy="128016"/>
          </a:xfrm>
          <a:prstGeom prst="ellipse">
            <a:avLst/>
          </a:prstGeom>
          <a:solidFill>
            <a:srgbClr val="5E707A"/>
          </a:solidFill>
          <a:ln>
            <a:noFill/>
          </a:ln>
          <a:effectLst/>
        </p:spPr>
        <p:txBody>
          <a:bodyPr rtlCol="0" anchor="ctr"/>
          <a:lstStyle/>
          <a:p>
            <a:pPr algn="ctr"/>
          </a:p>
        </p:txBody>
      </p:sp>
      <p:sp>
        <p:nvSpPr>
          <p:cNvPr id="29" name="Oval 28"/>
          <p:cNvSpPr/>
          <p:nvPr/>
        </p:nvSpPr>
        <p:spPr>
          <a:xfrm>
            <a:off x="4522622" y="4098798"/>
            <a:ext cx="128016" cy="128016"/>
          </a:xfrm>
          <a:prstGeom prst="ellipse">
            <a:avLst/>
          </a:prstGeom>
          <a:solidFill>
            <a:srgbClr val="0E7C7B"/>
          </a:solidFill>
          <a:ln>
            <a:noFill/>
          </a:ln>
          <a:effectLst/>
        </p:spPr>
        <p:txBody>
          <a:bodyPr rtlCol="0" anchor="ctr"/>
          <a:lstStyle/>
          <a:p>
            <a:pPr algn="ctr"/>
          </a:p>
        </p:txBody>
      </p:sp>
      <p:sp>
        <p:nvSpPr>
          <p:cNvPr id="30" name="TextBox 29"/>
          <p:cNvSpPr txBox="1"/>
          <p:nvPr/>
        </p:nvSpPr>
        <p:spPr>
          <a:xfrm>
            <a:off x="5170017" y="2862072"/>
            <a:ext cx="731520" cy="292608"/>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9C3B3B"/>
                </a:solidFill>
                <a:latin typeface="Calibri"/>
                <a:cs typeface="Calibri"/>
                <a:ea typeface="Calibri"/>
              </a:rPr>
              <a:t>MC</a:t>
            </a:r>
          </a:p>
        </p:txBody>
      </p:sp>
      <p:sp>
        <p:nvSpPr>
          <p:cNvPr id="31" name="TextBox 30"/>
          <p:cNvSpPr txBox="1"/>
          <p:nvPr/>
        </p:nvSpPr>
        <p:spPr>
          <a:xfrm>
            <a:off x="5661964" y="3968495"/>
            <a:ext cx="82296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5E707A"/>
                </a:solidFill>
                <a:latin typeface="Calibri"/>
                <a:cs typeface="Calibri"/>
                <a:ea typeface="Calibri"/>
              </a:rPr>
              <a:t>AVC</a:t>
            </a:r>
          </a:p>
        </p:txBody>
      </p:sp>
      <p:sp>
        <p:nvSpPr>
          <p:cNvPr id="32" name="TextBox 31"/>
          <p:cNvSpPr txBox="1"/>
          <p:nvPr/>
        </p:nvSpPr>
        <p:spPr>
          <a:xfrm>
            <a:off x="5930798" y="3520440"/>
            <a:ext cx="731520" cy="292608"/>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0E7C7B"/>
                </a:solidFill>
                <a:latin typeface="Calibri"/>
                <a:cs typeface="Calibri"/>
                <a:ea typeface="Calibri"/>
              </a:rPr>
              <a:t>AC</a:t>
            </a:r>
          </a:p>
        </p:txBody>
      </p:sp>
      <p:sp>
        <p:nvSpPr>
          <p:cNvPr id="33" name="Rectangle 32"/>
          <p:cNvSpPr/>
          <p:nvPr/>
        </p:nvSpPr>
        <p:spPr>
          <a:xfrm>
            <a:off x="7955279" y="1298448"/>
            <a:ext cx="3840480" cy="5074920"/>
          </a:xfrm>
          <a:prstGeom prst="rect">
            <a:avLst/>
          </a:prstGeom>
          <a:solidFill>
            <a:srgbClr val="E7F6F4"/>
          </a:solidFill>
          <a:ln>
            <a:noFill/>
          </a:ln>
          <a:effectLst/>
        </p:spPr>
        <p:txBody>
          <a:bodyPr rtlCol="0" anchor="ctr"/>
          <a:lstStyle/>
          <a:p>
            <a:pPr algn="ctr"/>
          </a:p>
        </p:txBody>
      </p:sp>
      <p:sp>
        <p:nvSpPr>
          <p:cNvPr id="34" name="TextBox 33"/>
          <p:cNvSpPr txBox="1"/>
          <p:nvPr/>
        </p:nvSpPr>
        <p:spPr>
          <a:xfrm>
            <a:off x="8119872" y="1417320"/>
            <a:ext cx="3520440" cy="292608"/>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182D3D"/>
                </a:solidFill>
                <a:latin typeface="Calibri"/>
                <a:cs typeface="Calibri"/>
                <a:ea typeface="Calibri"/>
              </a:rPr>
              <a:t>Read MC</a:t>
            </a:r>
          </a:p>
        </p:txBody>
      </p:sp>
      <p:sp>
        <p:nvSpPr>
          <p:cNvPr id="35" name="TextBox 34"/>
          <p:cNvSpPr txBox="1"/>
          <p:nvPr/>
        </p:nvSpPr>
        <p:spPr>
          <a:xfrm>
            <a:off x="8119872" y="1709928"/>
            <a:ext cx="3520440" cy="960120"/>
          </a:xfrm>
          <a:prstGeom prst="rect">
            <a:avLst/>
          </a:prstGeom>
          <a:noFill/>
        </p:spPr>
        <p:txBody>
          <a:bodyPr wrap="square" lIns="54864" rIns="54864" tIns="36576" bIns="18288" anchor="t"/>
          <a:lstStyle/>
          <a:p>
            <a:pPr algn="l">
              <a:lnSpc>
                <a:spcPct val="105000"/>
              </a:lnSpc>
              <a:spcBef>
                <a:spcPts val="0"/>
              </a:spcBef>
              <a:spcAft>
                <a:spcPts val="0"/>
              </a:spcAft>
            </a:pPr>
            <a:r>
              <a:rPr sz="1500" b="0" i="0">
                <a:solidFill>
                  <a:srgbClr val="1C2B36"/>
                </a:solidFill>
                <a:latin typeface="Calibri"/>
                <a:cs typeface="Calibri"/>
                <a:ea typeface="Calibri"/>
              </a:rPr>
              <a:t>The extra cost of one more unit. It falls, then rises.</a:t>
            </a:r>
          </a:p>
        </p:txBody>
      </p:sp>
      <p:sp>
        <p:nvSpPr>
          <p:cNvPr id="36" name="TextBox 35"/>
          <p:cNvSpPr txBox="1"/>
          <p:nvPr/>
        </p:nvSpPr>
        <p:spPr>
          <a:xfrm>
            <a:off x="8119872" y="2743200"/>
            <a:ext cx="3520440" cy="292608"/>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182D3D"/>
                </a:solidFill>
                <a:latin typeface="Calibri"/>
                <a:cs typeface="Calibri"/>
                <a:ea typeface="Calibri"/>
              </a:rPr>
              <a:t>The crossing</a:t>
            </a:r>
          </a:p>
        </p:txBody>
      </p:sp>
      <p:sp>
        <p:nvSpPr>
          <p:cNvPr id="37" name="TextBox 36"/>
          <p:cNvSpPr txBox="1"/>
          <p:nvPr/>
        </p:nvSpPr>
        <p:spPr>
          <a:xfrm>
            <a:off x="8119872" y="3035808"/>
            <a:ext cx="3520440" cy="960120"/>
          </a:xfrm>
          <a:prstGeom prst="rect">
            <a:avLst/>
          </a:prstGeom>
          <a:noFill/>
        </p:spPr>
        <p:txBody>
          <a:bodyPr wrap="square" lIns="54864" rIns="54864" tIns="36576" bIns="18288" anchor="t"/>
          <a:lstStyle/>
          <a:p>
            <a:pPr algn="l">
              <a:lnSpc>
                <a:spcPct val="105000"/>
              </a:lnSpc>
              <a:spcBef>
                <a:spcPts val="0"/>
              </a:spcBef>
              <a:spcAft>
                <a:spcPts val="0"/>
              </a:spcAft>
            </a:pPr>
            <a:r>
              <a:rPr sz="1500" b="0" i="0">
                <a:solidFill>
                  <a:srgbClr val="1C2B36"/>
                </a:solidFill>
                <a:latin typeface="Calibri"/>
                <a:cs typeface="Calibri"/>
                <a:ea typeface="Calibri"/>
              </a:rPr>
              <a:t>MC cuts AVC and AC at the bottom of each curve.</a:t>
            </a:r>
          </a:p>
        </p:txBody>
      </p:sp>
      <p:sp>
        <p:nvSpPr>
          <p:cNvPr id="38" name="TextBox 37"/>
          <p:cNvSpPr txBox="1"/>
          <p:nvPr/>
        </p:nvSpPr>
        <p:spPr>
          <a:xfrm>
            <a:off x="8119872" y="4069080"/>
            <a:ext cx="3520440" cy="292608"/>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182D3D"/>
                </a:solidFill>
                <a:latin typeface="Calibri"/>
                <a:cs typeface="Calibri"/>
                <a:ea typeface="Calibri"/>
              </a:rPr>
              <a:t>Why AC is higher</a:t>
            </a:r>
          </a:p>
        </p:txBody>
      </p:sp>
      <p:sp>
        <p:nvSpPr>
          <p:cNvPr id="39" name="TextBox 38"/>
          <p:cNvSpPr txBox="1"/>
          <p:nvPr/>
        </p:nvSpPr>
        <p:spPr>
          <a:xfrm>
            <a:off x="8119872" y="4361688"/>
            <a:ext cx="3520440" cy="960120"/>
          </a:xfrm>
          <a:prstGeom prst="rect">
            <a:avLst/>
          </a:prstGeom>
          <a:noFill/>
        </p:spPr>
        <p:txBody>
          <a:bodyPr wrap="square" lIns="54864" rIns="54864" tIns="36576" bIns="18288" anchor="t"/>
          <a:lstStyle/>
          <a:p>
            <a:pPr algn="l">
              <a:lnSpc>
                <a:spcPct val="105000"/>
              </a:lnSpc>
              <a:spcBef>
                <a:spcPts val="0"/>
              </a:spcBef>
              <a:spcAft>
                <a:spcPts val="0"/>
              </a:spcAft>
            </a:pPr>
            <a:r>
              <a:rPr sz="1500" b="0" i="0">
                <a:solidFill>
                  <a:srgbClr val="1C2B36"/>
                </a:solidFill>
                <a:latin typeface="Calibri"/>
                <a:cs typeface="Calibri"/>
                <a:ea typeface="Calibri"/>
              </a:rPr>
              <a:t>AC includes fixed cost. AVC does not.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SHORT RUN</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Name the cost before you use it</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14/44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53312"/>
            <a:ext cx="91440" cy="1578864"/>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40080" y="1499616"/>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Total cost is total fixed cost plus total variable cost. Average fixed cost is TFC / Q and it always falls as output rises. Average variable cost is TVC / Q. Average total cost is TC / Q, which is AFC + AVC.</a:t>
            </a:r>
          </a:p>
        </p:txBody>
      </p:sp>
      <p:sp>
        <p:nvSpPr>
          <p:cNvPr id="12" name="Rectangle 11"/>
          <p:cNvSpPr/>
          <p:nvPr/>
        </p:nvSpPr>
        <p:spPr>
          <a:xfrm>
            <a:off x="384048" y="3078479"/>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3" name="Rectangle 12"/>
          <p:cNvSpPr/>
          <p:nvPr/>
        </p:nvSpPr>
        <p:spPr>
          <a:xfrm>
            <a:off x="384048" y="3078479"/>
            <a:ext cx="91440" cy="1578864"/>
          </a:xfrm>
          <a:prstGeom prst="rect">
            <a:avLst/>
          </a:prstGeom>
          <a:solidFill>
            <a:srgbClr val="55CDC0"/>
          </a:solidFill>
          <a:ln>
            <a:noFill/>
          </a:ln>
          <a:effectLst/>
        </p:spPr>
        <p:txBody>
          <a:bodyPr rtlCol="0" anchor="ctr"/>
          <a:lstStyle/>
          <a:p>
            <a:pPr algn="ctr"/>
          </a:p>
        </p:txBody>
      </p:sp>
      <p:sp>
        <p:nvSpPr>
          <p:cNvPr id="14" name="TextBox 13"/>
          <p:cNvSpPr txBox="1"/>
          <p:nvPr/>
        </p:nvSpPr>
        <p:spPr>
          <a:xfrm>
            <a:off x="640080" y="3224783"/>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Marginal cost is the extra cost of one more unit. It cuts AVC and ATC at their lowest points. If a question gives TFC $24,000 and TVC $40,000 at 8,000 units, AVC is $5. ATC would be $8. Do not mix them.</a:t>
            </a:r>
          </a:p>
        </p:txBody>
      </p:sp>
      <p:sp>
        <p:nvSpPr>
          <p:cNvPr id="15" name="Rectangle 14"/>
          <p:cNvSpPr/>
          <p:nvPr/>
        </p:nvSpPr>
        <p:spPr>
          <a:xfrm>
            <a:off x="384048" y="4803648"/>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6" name="Rectangle 15"/>
          <p:cNvSpPr/>
          <p:nvPr/>
        </p:nvSpPr>
        <p:spPr>
          <a:xfrm>
            <a:off x="384048" y="4803648"/>
            <a:ext cx="91440" cy="1578864"/>
          </a:xfrm>
          <a:prstGeom prst="rect">
            <a:avLst/>
          </a:prstGeom>
          <a:solidFill>
            <a:srgbClr val="55CDC0"/>
          </a:solidFill>
          <a:ln>
            <a:noFill/>
          </a:ln>
          <a:effectLst/>
        </p:spPr>
        <p:txBody>
          <a:bodyPr rtlCol="0" anchor="ctr"/>
          <a:lstStyle/>
          <a:p>
            <a:pPr algn="ctr"/>
          </a:p>
        </p:txBody>
      </p:sp>
      <p:sp>
        <p:nvSpPr>
          <p:cNvPr id="17" name="TextBox 16"/>
          <p:cNvSpPr txBox="1"/>
          <p:nvPr/>
        </p:nvSpPr>
        <p:spPr>
          <a:xfrm>
            <a:off x="640080" y="4949952"/>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MCQ: AVC at 8,000 is 40,000/8,000 = $5. $3 is AFC. $8 is ATC. $6 is AVC at 16,000.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WORKED NUMBERS</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The café should stay open this week</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15/44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1051560"/>
          </a:xfrm>
          <a:prstGeom prst="rect">
            <a:avLst/>
          </a:prstGeom>
          <a:solidFill>
            <a:srgbClr val="E7F6F4"/>
          </a:solidFill>
          <a:ln>
            <a:noFill/>
          </a:ln>
          <a:effectLst/>
        </p:spPr>
        <p:txBody>
          <a:bodyPr rtlCol="0" anchor="ctr"/>
          <a:lstStyle/>
          <a:p>
            <a:pPr algn="ctr"/>
          </a:p>
        </p:txBody>
      </p:sp>
      <p:sp>
        <p:nvSpPr>
          <p:cNvPr id="10" name="TextBox 9"/>
          <p:cNvSpPr txBox="1"/>
          <p:nvPr/>
        </p:nvSpPr>
        <p:spPr>
          <a:xfrm>
            <a:off x="566928" y="1481328"/>
            <a:ext cx="11064240" cy="82296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TFC is $2,000. Price is $6, AVC is $4, ATC is $9.</a:t>
            </a:r>
          </a:p>
        </p:txBody>
      </p:sp>
      <p:sp>
        <p:nvSpPr>
          <p:cNvPr id="11" name="Rectangle 10"/>
          <p:cNvSpPr/>
          <p:nvPr/>
        </p:nvSpPr>
        <p:spPr>
          <a:xfrm>
            <a:off x="384048" y="2560320"/>
            <a:ext cx="11430000" cy="658368"/>
          </a:xfrm>
          <a:prstGeom prst="rect">
            <a:avLst/>
          </a:prstGeom>
          <a:solidFill>
            <a:srgbClr val="FFFFFF"/>
          </a:solidFill>
          <a:ln w="12700">
            <a:solidFill>
              <a:srgbClr val="D5E2E6"/>
            </a:solidFill>
          </a:ln>
          <a:effectLst/>
        </p:spPr>
        <p:txBody>
          <a:bodyPr rtlCol="0" anchor="ctr"/>
          <a:lstStyle/>
          <a:p>
            <a:pPr algn="ctr"/>
          </a:p>
        </p:txBody>
      </p:sp>
      <p:sp>
        <p:nvSpPr>
          <p:cNvPr id="12" name="TextBox 11"/>
          <p:cNvSpPr txBox="1"/>
          <p:nvPr/>
        </p:nvSpPr>
        <p:spPr>
          <a:xfrm>
            <a:off x="566928" y="2688336"/>
            <a:ext cx="11064240" cy="438912"/>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Price is above AVC: $6 &gt; $4.</a:t>
            </a:r>
          </a:p>
        </p:txBody>
      </p:sp>
      <p:sp>
        <p:nvSpPr>
          <p:cNvPr id="13" name="Rectangle 12"/>
          <p:cNvSpPr/>
          <p:nvPr/>
        </p:nvSpPr>
        <p:spPr>
          <a:xfrm>
            <a:off x="384048" y="3310127"/>
            <a:ext cx="11430000" cy="658368"/>
          </a:xfrm>
          <a:prstGeom prst="rect">
            <a:avLst/>
          </a:prstGeom>
          <a:solidFill>
            <a:srgbClr val="FFFFFF"/>
          </a:solidFill>
          <a:ln w="12700">
            <a:solidFill>
              <a:srgbClr val="D5E2E6"/>
            </a:solidFill>
          </a:ln>
          <a:effectLst/>
        </p:spPr>
        <p:txBody>
          <a:bodyPr rtlCol="0" anchor="ctr"/>
          <a:lstStyle/>
          <a:p>
            <a:pPr algn="ctr"/>
          </a:p>
        </p:txBody>
      </p:sp>
      <p:sp>
        <p:nvSpPr>
          <p:cNvPr id="14" name="TextBox 13"/>
          <p:cNvSpPr txBox="1"/>
          <p:nvPr/>
        </p:nvSpPr>
        <p:spPr>
          <a:xfrm>
            <a:off x="566928" y="3438144"/>
            <a:ext cx="11064240" cy="438912"/>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AFC = 9 − 4 = $5, so output is 400.</a:t>
            </a:r>
          </a:p>
        </p:txBody>
      </p:sp>
      <p:sp>
        <p:nvSpPr>
          <p:cNvPr id="15" name="Rectangle 14"/>
          <p:cNvSpPr/>
          <p:nvPr/>
        </p:nvSpPr>
        <p:spPr>
          <a:xfrm>
            <a:off x="384048" y="4059935"/>
            <a:ext cx="11430000" cy="658368"/>
          </a:xfrm>
          <a:prstGeom prst="rect">
            <a:avLst/>
          </a:prstGeom>
          <a:solidFill>
            <a:srgbClr val="FFFFFF"/>
          </a:solidFill>
          <a:ln w="12700">
            <a:solidFill>
              <a:srgbClr val="D5E2E6"/>
            </a:solidFill>
          </a:ln>
          <a:effectLst/>
        </p:spPr>
        <p:txBody>
          <a:bodyPr rtlCol="0" anchor="ctr"/>
          <a:lstStyle/>
          <a:p>
            <a:pPr algn="ctr"/>
          </a:p>
        </p:txBody>
      </p:sp>
      <p:sp>
        <p:nvSpPr>
          <p:cNvPr id="16" name="TextBox 15"/>
          <p:cNvSpPr txBox="1"/>
          <p:nvPr/>
        </p:nvSpPr>
        <p:spPr>
          <a:xfrm>
            <a:off x="566928" y="4187951"/>
            <a:ext cx="11064240" cy="438912"/>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Loss if open: $3 × 400 = $1,200.</a:t>
            </a:r>
          </a:p>
        </p:txBody>
      </p:sp>
      <p:sp>
        <p:nvSpPr>
          <p:cNvPr id="17" name="TextBox 16"/>
          <p:cNvSpPr txBox="1"/>
          <p:nvPr/>
        </p:nvSpPr>
        <p:spPr>
          <a:xfrm>
            <a:off x="457200" y="5806440"/>
            <a:ext cx="11247120" cy="640080"/>
          </a:xfrm>
          <a:prstGeom prst="rect">
            <a:avLst/>
          </a:prstGeom>
          <a:noFill/>
        </p:spPr>
        <p:txBody>
          <a:bodyPr wrap="square" lIns="54864" rIns="54864" tIns="36576" bIns="18288" anchor="t"/>
          <a:lstStyle/>
          <a:p>
            <a:pPr algn="l">
              <a:lnSpc>
                <a:spcPct val="105000"/>
              </a:lnSpc>
              <a:spcBef>
                <a:spcPts val="0"/>
              </a:spcBef>
              <a:spcAft>
                <a:spcPts val="0"/>
              </a:spcAft>
            </a:pPr>
            <a:r>
              <a:rPr sz="1800" b="0" i="0">
                <a:solidFill>
                  <a:srgbClr val="1C2B36"/>
                </a:solidFill>
                <a:latin typeface="Calibri"/>
                <a:cs typeface="Calibri"/>
                <a:ea typeface="Calibri"/>
              </a:rPr>
              <a:t>Closing still leaves the $2,000 fixed cost. $1,200 is the smaller loss.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SHUTDOWN</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A loss has two different tests</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16/44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53312"/>
            <a:ext cx="91440" cy="1578864"/>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40080" y="1499616"/>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In the short run the fixed cost is sunk. The firm should keep producing if price covers average variable cost, because each unit then contributes something towards that fixed cost. It should shut down at once if price is below average variable cost. The loss is then limited to total fixed cost.</a:t>
            </a:r>
          </a:p>
        </p:txBody>
      </p:sp>
      <p:sp>
        <p:nvSpPr>
          <p:cNvPr id="12" name="Rectangle 11"/>
          <p:cNvSpPr/>
          <p:nvPr/>
        </p:nvSpPr>
        <p:spPr>
          <a:xfrm>
            <a:off x="384048" y="3078479"/>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3" name="Rectangle 12"/>
          <p:cNvSpPr/>
          <p:nvPr/>
        </p:nvSpPr>
        <p:spPr>
          <a:xfrm>
            <a:off x="384048" y="3078479"/>
            <a:ext cx="91440" cy="1578864"/>
          </a:xfrm>
          <a:prstGeom prst="rect">
            <a:avLst/>
          </a:prstGeom>
          <a:solidFill>
            <a:srgbClr val="55CDC0"/>
          </a:solidFill>
          <a:ln>
            <a:noFill/>
          </a:ln>
          <a:effectLst/>
        </p:spPr>
        <p:txBody>
          <a:bodyPr rtlCol="0" anchor="ctr"/>
          <a:lstStyle/>
          <a:p>
            <a:pPr algn="ctr"/>
          </a:p>
        </p:txBody>
      </p:sp>
      <p:sp>
        <p:nvSpPr>
          <p:cNvPr id="14" name="TextBox 13"/>
          <p:cNvSpPr txBox="1"/>
          <p:nvPr/>
        </p:nvSpPr>
        <p:spPr>
          <a:xfrm>
            <a:off x="640080" y="3224783"/>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In the long run every cost is variable. The firm leaves the industry if price stays below average total cost, because it is not even earning normal profit. A short-run loss with price above AVC is not, by itself, a reason to leave.</a:t>
            </a:r>
          </a:p>
        </p:txBody>
      </p:sp>
      <p:sp>
        <p:nvSpPr>
          <p:cNvPr id="15" name="Rectangle 14"/>
          <p:cNvSpPr/>
          <p:nvPr/>
        </p:nvSpPr>
        <p:spPr>
          <a:xfrm>
            <a:off x="384048" y="4803648"/>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6" name="Rectangle 15"/>
          <p:cNvSpPr/>
          <p:nvPr/>
        </p:nvSpPr>
        <p:spPr>
          <a:xfrm>
            <a:off x="384048" y="4803648"/>
            <a:ext cx="91440" cy="1578864"/>
          </a:xfrm>
          <a:prstGeom prst="rect">
            <a:avLst/>
          </a:prstGeom>
          <a:solidFill>
            <a:srgbClr val="55CDC0"/>
          </a:solidFill>
          <a:ln>
            <a:noFill/>
          </a:ln>
          <a:effectLst/>
        </p:spPr>
        <p:txBody>
          <a:bodyPr rtlCol="0" anchor="ctr"/>
          <a:lstStyle/>
          <a:p>
            <a:pPr algn="ctr"/>
          </a:p>
        </p:txBody>
      </p:sp>
      <p:sp>
        <p:nvSpPr>
          <p:cNvPr id="17" name="TextBox 16"/>
          <p:cNvSpPr txBox="1"/>
          <p:nvPr/>
        </p:nvSpPr>
        <p:spPr>
          <a:xfrm>
            <a:off x="640080" y="4949952"/>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Two reasons for the café: P &gt; AVC, and the fixed cost cannot be escaped this week. Diminishing returns is not a reason to stay open.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A DIFFERENT IDEA</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Diminishing returns are not diseconomies</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17/44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53312"/>
            <a:ext cx="91440" cy="1578864"/>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40080" y="1499616"/>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Diminishing marginal returns happen in the short run, when extra workers are added to a fixed factory and the extra output of each worker eventually falls. That is why short-run marginal cost rises. The factory has not changed size.</a:t>
            </a:r>
          </a:p>
        </p:txBody>
      </p:sp>
      <p:sp>
        <p:nvSpPr>
          <p:cNvPr id="12" name="Rectangle 11"/>
          <p:cNvSpPr/>
          <p:nvPr/>
        </p:nvSpPr>
        <p:spPr>
          <a:xfrm>
            <a:off x="384048" y="3078479"/>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3" name="Rectangle 12"/>
          <p:cNvSpPr/>
          <p:nvPr/>
        </p:nvSpPr>
        <p:spPr>
          <a:xfrm>
            <a:off x="384048" y="3078479"/>
            <a:ext cx="91440" cy="1578864"/>
          </a:xfrm>
          <a:prstGeom prst="rect">
            <a:avLst/>
          </a:prstGeom>
          <a:solidFill>
            <a:srgbClr val="55CDC0"/>
          </a:solidFill>
          <a:ln>
            <a:noFill/>
          </a:ln>
          <a:effectLst/>
        </p:spPr>
        <p:txBody>
          <a:bodyPr rtlCol="0" anchor="ctr"/>
          <a:lstStyle/>
          <a:p>
            <a:pPr algn="ctr"/>
          </a:p>
        </p:txBody>
      </p:sp>
      <p:sp>
        <p:nvSpPr>
          <p:cNvPr id="14" name="TextBox 13"/>
          <p:cNvSpPr txBox="1"/>
          <p:nvPr/>
        </p:nvSpPr>
        <p:spPr>
          <a:xfrm>
            <a:off x="640080" y="3224783"/>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A diseconomy of scale happens in the long run, when the firm itself becomes larger and long-run average cost rises. Communication, coordination and X-inefficiency are the sources on this specification. A higher oil price is neither. It shifts costs up for every size of firm.</a:t>
            </a:r>
          </a:p>
        </p:txBody>
      </p:sp>
      <p:sp>
        <p:nvSpPr>
          <p:cNvPr id="15" name="Rectangle 14"/>
          <p:cNvSpPr/>
          <p:nvPr/>
        </p:nvSpPr>
        <p:spPr>
          <a:xfrm>
            <a:off x="384048" y="4803648"/>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6" name="Rectangle 15"/>
          <p:cNvSpPr/>
          <p:nvPr/>
        </p:nvSpPr>
        <p:spPr>
          <a:xfrm>
            <a:off x="384048" y="4803648"/>
            <a:ext cx="91440" cy="1578864"/>
          </a:xfrm>
          <a:prstGeom prst="rect">
            <a:avLst/>
          </a:prstGeom>
          <a:solidFill>
            <a:srgbClr val="55CDC0"/>
          </a:solidFill>
          <a:ln>
            <a:noFill/>
          </a:ln>
          <a:effectLst/>
        </p:spPr>
        <p:txBody>
          <a:bodyPr rtlCol="0" anchor="ctr"/>
          <a:lstStyle/>
          <a:p>
            <a:pPr algn="ctr"/>
          </a:p>
        </p:txBody>
      </p:sp>
      <p:sp>
        <p:nvSpPr>
          <p:cNvPr id="17" name="TextBox 16"/>
          <p:cNvSpPr txBox="1"/>
          <p:nvPr/>
        </p:nvSpPr>
        <p:spPr>
          <a:xfrm>
            <a:off x="640080" y="4949952"/>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This distinction is an MCQ and a cap on the airline question. Do not credit diminishing returns as a diseconomy.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THE DIAGRAM</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Economies, then the minimum efficient scale</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18/44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20040" y="1298448"/>
            <a:ext cx="7498079" cy="5074920"/>
          </a:xfrm>
          <a:prstGeom prst="rect">
            <a:avLst/>
          </a:prstGeom>
          <a:solidFill>
            <a:srgbClr val="FFFFFF"/>
          </a:solidFill>
          <a:ln w="12700">
            <a:solidFill>
              <a:srgbClr val="D5E2E6"/>
            </a:solidFill>
          </a:ln>
          <a:effectLst/>
        </p:spPr>
        <p:txBody>
          <a:bodyPr rtlCol="0" anchor="ctr"/>
          <a:lstStyle/>
          <a:p>
            <a:pPr algn="ctr"/>
          </a:p>
        </p:txBody>
      </p:sp>
      <p:cxnSp>
        <p:nvCxnSpPr>
          <p:cNvPr id="10" name="Connector 9"/>
          <p:cNvCxnSpPr/>
          <p:nvPr/>
        </p:nvCxnSpPr>
        <p:spPr>
          <a:xfrm>
            <a:off x="822960" y="5870448"/>
            <a:ext cx="6830567" cy="0"/>
          </a:xfrm>
          <a:prstGeom prst="line">
            <a:avLst/>
          </a:prstGeom>
          <a:ln w="22225">
            <a:solidFill>
              <a:srgbClr val="182D3D"/>
            </a:solidFill>
          </a:ln>
        </p:spPr>
      </p:cxnSp>
      <p:cxnSp>
        <p:nvCxnSpPr>
          <p:cNvPr id="11" name="Connector 10"/>
          <p:cNvCxnSpPr/>
          <p:nvPr/>
        </p:nvCxnSpPr>
        <p:spPr>
          <a:xfrm flipV="1">
            <a:off x="822960" y="1755648"/>
            <a:ext cx="0" cy="4114800"/>
          </a:xfrm>
          <a:prstGeom prst="line">
            <a:avLst/>
          </a:prstGeom>
          <a:ln w="22225">
            <a:solidFill>
              <a:srgbClr val="182D3D"/>
            </a:solidFill>
          </a:ln>
        </p:spPr>
      </p:cxnSp>
      <p:sp>
        <p:nvSpPr>
          <p:cNvPr id="12" name="TextBox 11"/>
          <p:cNvSpPr txBox="1"/>
          <p:nvPr/>
        </p:nvSpPr>
        <p:spPr>
          <a:xfrm>
            <a:off x="2903220" y="5989320"/>
            <a:ext cx="2560320" cy="292608"/>
          </a:xfrm>
          <a:prstGeom prst="rect">
            <a:avLst/>
          </a:prstGeom>
          <a:noFill/>
        </p:spPr>
        <p:txBody>
          <a:bodyPr wrap="square" lIns="54864" rIns="54864" tIns="36576" bIns="18288" anchor="t"/>
          <a:lstStyle/>
          <a:p>
            <a:pPr algn="ctr">
              <a:lnSpc>
                <a:spcPct val="105000"/>
              </a:lnSpc>
              <a:spcBef>
                <a:spcPts val="0"/>
              </a:spcBef>
              <a:spcAft>
                <a:spcPts val="0"/>
              </a:spcAft>
            </a:pPr>
            <a:r>
              <a:rPr sz="1400" b="1" i="0">
                <a:solidFill>
                  <a:srgbClr val="182D3D"/>
                </a:solidFill>
                <a:latin typeface="Calibri"/>
                <a:cs typeface="Calibri"/>
                <a:ea typeface="Calibri"/>
              </a:rPr>
              <a:t>Output</a:t>
            </a:r>
          </a:p>
        </p:txBody>
      </p:sp>
      <p:sp>
        <p:nvSpPr>
          <p:cNvPr id="13" name="TextBox 12"/>
          <p:cNvSpPr txBox="1"/>
          <p:nvPr/>
        </p:nvSpPr>
        <p:spPr>
          <a:xfrm>
            <a:off x="411479" y="1371600"/>
            <a:ext cx="3108960" cy="292608"/>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182D3D"/>
                </a:solidFill>
                <a:latin typeface="Calibri"/>
                <a:cs typeface="Calibri"/>
                <a:ea typeface="Calibri"/>
              </a:rPr>
              <a:t>LRAC</a:t>
            </a:r>
          </a:p>
        </p:txBody>
      </p:sp>
      <p:cxnSp>
        <p:nvCxnSpPr>
          <p:cNvPr id="14" name="Connector 13"/>
          <p:cNvCxnSpPr/>
          <p:nvPr/>
        </p:nvCxnSpPr>
        <p:spPr>
          <a:xfrm>
            <a:off x="1360627" y="2414015"/>
            <a:ext cx="940917" cy="1152145"/>
          </a:xfrm>
          <a:prstGeom prst="line">
            <a:avLst/>
          </a:prstGeom>
          <a:ln w="34925">
            <a:solidFill>
              <a:srgbClr val="0E7C7B"/>
            </a:solidFill>
          </a:ln>
        </p:spPr>
      </p:cxnSp>
      <p:cxnSp>
        <p:nvCxnSpPr>
          <p:cNvPr id="15" name="Connector 14"/>
          <p:cNvCxnSpPr/>
          <p:nvPr/>
        </p:nvCxnSpPr>
        <p:spPr>
          <a:xfrm>
            <a:off x="2301544" y="3566160"/>
            <a:ext cx="940918" cy="822960"/>
          </a:xfrm>
          <a:prstGeom prst="line">
            <a:avLst/>
          </a:prstGeom>
          <a:ln w="34925">
            <a:solidFill>
              <a:srgbClr val="0E7C7B"/>
            </a:solidFill>
          </a:ln>
        </p:spPr>
      </p:cxnSp>
      <p:cxnSp>
        <p:nvCxnSpPr>
          <p:cNvPr id="16" name="Connector 15"/>
          <p:cNvCxnSpPr/>
          <p:nvPr/>
        </p:nvCxnSpPr>
        <p:spPr>
          <a:xfrm>
            <a:off x="3242462" y="4389120"/>
            <a:ext cx="1075334" cy="411480"/>
          </a:xfrm>
          <a:prstGeom prst="line">
            <a:avLst/>
          </a:prstGeom>
          <a:ln w="34925">
            <a:solidFill>
              <a:srgbClr val="0E7C7B"/>
            </a:solidFill>
          </a:ln>
        </p:spPr>
      </p:cxnSp>
      <p:cxnSp>
        <p:nvCxnSpPr>
          <p:cNvPr id="17" name="Connector 16"/>
          <p:cNvCxnSpPr/>
          <p:nvPr/>
        </p:nvCxnSpPr>
        <p:spPr>
          <a:xfrm>
            <a:off x="4317796" y="4800600"/>
            <a:ext cx="940918" cy="20574"/>
          </a:xfrm>
          <a:prstGeom prst="line">
            <a:avLst/>
          </a:prstGeom>
          <a:ln w="34925">
            <a:solidFill>
              <a:srgbClr val="0E7C7B"/>
            </a:solidFill>
          </a:ln>
        </p:spPr>
      </p:cxnSp>
      <p:cxnSp>
        <p:nvCxnSpPr>
          <p:cNvPr id="18" name="Connector 17"/>
          <p:cNvCxnSpPr/>
          <p:nvPr/>
        </p:nvCxnSpPr>
        <p:spPr>
          <a:xfrm flipV="1">
            <a:off x="5258714" y="4471416"/>
            <a:ext cx="672084" cy="349758"/>
          </a:xfrm>
          <a:prstGeom prst="line">
            <a:avLst/>
          </a:prstGeom>
          <a:ln w="34925">
            <a:solidFill>
              <a:srgbClr val="0E7C7B"/>
            </a:solidFill>
          </a:ln>
        </p:spPr>
      </p:cxnSp>
      <p:cxnSp>
        <p:nvCxnSpPr>
          <p:cNvPr id="19" name="Connector 18"/>
          <p:cNvCxnSpPr/>
          <p:nvPr/>
        </p:nvCxnSpPr>
        <p:spPr>
          <a:xfrm flipV="1">
            <a:off x="5930798" y="3730752"/>
            <a:ext cx="806501" cy="740664"/>
          </a:xfrm>
          <a:prstGeom prst="line">
            <a:avLst/>
          </a:prstGeom>
          <a:ln w="34925">
            <a:solidFill>
              <a:srgbClr val="0E7C7B"/>
            </a:solidFill>
          </a:ln>
        </p:spPr>
      </p:cxnSp>
      <p:sp>
        <p:nvSpPr>
          <p:cNvPr id="20" name="Oval 19"/>
          <p:cNvSpPr/>
          <p:nvPr/>
        </p:nvSpPr>
        <p:spPr>
          <a:xfrm>
            <a:off x="4724247" y="4757166"/>
            <a:ext cx="128016" cy="128016"/>
          </a:xfrm>
          <a:prstGeom prst="ellipse">
            <a:avLst/>
          </a:prstGeom>
          <a:solidFill>
            <a:srgbClr val="182D3D"/>
          </a:solidFill>
          <a:ln>
            <a:noFill/>
          </a:ln>
          <a:effectLst/>
        </p:spPr>
        <p:txBody>
          <a:bodyPr rtlCol="0" anchor="ctr"/>
          <a:lstStyle/>
          <a:p>
            <a:pPr algn="ctr"/>
          </a:p>
        </p:txBody>
      </p:sp>
      <p:cxnSp>
        <p:nvCxnSpPr>
          <p:cNvPr id="21" name="Connector 20"/>
          <p:cNvCxnSpPr/>
          <p:nvPr/>
        </p:nvCxnSpPr>
        <p:spPr>
          <a:xfrm>
            <a:off x="4788255" y="4821174"/>
            <a:ext cx="0" cy="1049274"/>
          </a:xfrm>
          <a:prstGeom prst="line">
            <a:avLst/>
          </a:prstGeom>
          <a:ln w="12700">
            <a:solidFill>
              <a:srgbClr val="5E707A"/>
            </a:solidFill>
          </a:ln>
        </p:spPr>
      </p:cxnSp>
      <p:cxnSp>
        <p:nvCxnSpPr>
          <p:cNvPr id="22" name="Connector 21"/>
          <p:cNvCxnSpPr/>
          <p:nvPr/>
        </p:nvCxnSpPr>
        <p:spPr>
          <a:xfrm>
            <a:off x="822960" y="4821174"/>
            <a:ext cx="3965295" cy="0"/>
          </a:xfrm>
          <a:prstGeom prst="line">
            <a:avLst/>
          </a:prstGeom>
          <a:ln w="12700">
            <a:solidFill>
              <a:srgbClr val="5E707A"/>
            </a:solidFill>
          </a:ln>
        </p:spPr>
      </p:cxnSp>
      <p:sp>
        <p:nvSpPr>
          <p:cNvPr id="23" name="TextBox 22"/>
          <p:cNvSpPr txBox="1"/>
          <p:nvPr/>
        </p:nvSpPr>
        <p:spPr>
          <a:xfrm>
            <a:off x="4651095" y="5056632"/>
            <a:ext cx="822960" cy="292608"/>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182D3D"/>
                </a:solidFill>
                <a:latin typeface="Calibri"/>
                <a:cs typeface="Calibri"/>
                <a:ea typeface="Calibri"/>
              </a:rPr>
              <a:t>MES</a:t>
            </a:r>
          </a:p>
        </p:txBody>
      </p:sp>
      <p:sp>
        <p:nvSpPr>
          <p:cNvPr id="24" name="Rectangle 23"/>
          <p:cNvSpPr/>
          <p:nvPr/>
        </p:nvSpPr>
        <p:spPr>
          <a:xfrm>
            <a:off x="7955279" y="1298448"/>
            <a:ext cx="3840480" cy="5074920"/>
          </a:xfrm>
          <a:prstGeom prst="rect">
            <a:avLst/>
          </a:prstGeom>
          <a:solidFill>
            <a:srgbClr val="E7F6F4"/>
          </a:solidFill>
          <a:ln>
            <a:noFill/>
          </a:ln>
          <a:effectLst/>
        </p:spPr>
        <p:txBody>
          <a:bodyPr rtlCol="0" anchor="ctr"/>
          <a:lstStyle/>
          <a:p>
            <a:pPr algn="ctr"/>
          </a:p>
        </p:txBody>
      </p:sp>
      <p:sp>
        <p:nvSpPr>
          <p:cNvPr id="25" name="TextBox 24"/>
          <p:cNvSpPr txBox="1"/>
          <p:nvPr/>
        </p:nvSpPr>
        <p:spPr>
          <a:xfrm>
            <a:off x="8119872" y="1417320"/>
            <a:ext cx="3520440" cy="292608"/>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182D3D"/>
                </a:solidFill>
                <a:latin typeface="Calibri"/>
                <a:cs typeface="Calibri"/>
                <a:ea typeface="Calibri"/>
              </a:rPr>
              <a:t>Falling LRAC</a:t>
            </a:r>
          </a:p>
        </p:txBody>
      </p:sp>
      <p:sp>
        <p:nvSpPr>
          <p:cNvPr id="26" name="TextBox 25"/>
          <p:cNvSpPr txBox="1"/>
          <p:nvPr/>
        </p:nvSpPr>
        <p:spPr>
          <a:xfrm>
            <a:off x="8119872" y="1709928"/>
            <a:ext cx="3520440" cy="960120"/>
          </a:xfrm>
          <a:prstGeom prst="rect">
            <a:avLst/>
          </a:prstGeom>
          <a:noFill/>
        </p:spPr>
        <p:txBody>
          <a:bodyPr wrap="square" lIns="54864" rIns="54864" tIns="36576" bIns="18288" anchor="t"/>
          <a:lstStyle/>
          <a:p>
            <a:pPr algn="l">
              <a:lnSpc>
                <a:spcPct val="105000"/>
              </a:lnSpc>
              <a:spcBef>
                <a:spcPts val="0"/>
              </a:spcBef>
              <a:spcAft>
                <a:spcPts val="0"/>
              </a:spcAft>
            </a:pPr>
            <a:r>
              <a:rPr sz="1500" b="0" i="0">
                <a:solidFill>
                  <a:srgbClr val="1C2B36"/>
                </a:solidFill>
                <a:latin typeface="Calibri"/>
                <a:cs typeface="Calibri"/>
                <a:ea typeface="Calibri"/>
              </a:rPr>
              <a:t>Economies of scale. Bigger output, lower cost per unit.</a:t>
            </a:r>
          </a:p>
        </p:txBody>
      </p:sp>
      <p:sp>
        <p:nvSpPr>
          <p:cNvPr id="27" name="TextBox 26"/>
          <p:cNvSpPr txBox="1"/>
          <p:nvPr/>
        </p:nvSpPr>
        <p:spPr>
          <a:xfrm>
            <a:off x="8119872" y="2743200"/>
            <a:ext cx="3520440" cy="292608"/>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182D3D"/>
                </a:solidFill>
                <a:latin typeface="Calibri"/>
                <a:cs typeface="Calibri"/>
                <a:ea typeface="Calibri"/>
              </a:rPr>
              <a:t>MES</a:t>
            </a:r>
          </a:p>
        </p:txBody>
      </p:sp>
      <p:sp>
        <p:nvSpPr>
          <p:cNvPr id="28" name="TextBox 27"/>
          <p:cNvSpPr txBox="1"/>
          <p:nvPr/>
        </p:nvSpPr>
        <p:spPr>
          <a:xfrm>
            <a:off x="8119872" y="3035808"/>
            <a:ext cx="3520440" cy="960120"/>
          </a:xfrm>
          <a:prstGeom prst="rect">
            <a:avLst/>
          </a:prstGeom>
          <a:noFill/>
        </p:spPr>
        <p:txBody>
          <a:bodyPr wrap="square" lIns="54864" rIns="54864" tIns="36576" bIns="18288" anchor="t"/>
          <a:lstStyle/>
          <a:p>
            <a:pPr algn="l">
              <a:lnSpc>
                <a:spcPct val="105000"/>
              </a:lnSpc>
              <a:spcBef>
                <a:spcPts val="0"/>
              </a:spcBef>
              <a:spcAft>
                <a:spcPts val="0"/>
              </a:spcAft>
            </a:pPr>
            <a:r>
              <a:rPr sz="1500" b="0" i="0">
                <a:solidFill>
                  <a:srgbClr val="1C2B36"/>
                </a:solidFill>
                <a:latin typeface="Calibri"/>
                <a:cs typeface="Calibri"/>
                <a:ea typeface="Calibri"/>
              </a:rPr>
              <a:t>The lowest output at which LRAC stops falling.</a:t>
            </a:r>
          </a:p>
        </p:txBody>
      </p:sp>
      <p:sp>
        <p:nvSpPr>
          <p:cNvPr id="29" name="TextBox 28"/>
          <p:cNvSpPr txBox="1"/>
          <p:nvPr/>
        </p:nvSpPr>
        <p:spPr>
          <a:xfrm>
            <a:off x="8119872" y="4069080"/>
            <a:ext cx="3520440" cy="292608"/>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182D3D"/>
                </a:solidFill>
                <a:latin typeface="Calibri"/>
                <a:cs typeface="Calibri"/>
                <a:ea typeface="Calibri"/>
              </a:rPr>
              <a:t>Rising LRAC</a:t>
            </a:r>
          </a:p>
        </p:txBody>
      </p:sp>
      <p:sp>
        <p:nvSpPr>
          <p:cNvPr id="30" name="TextBox 29"/>
          <p:cNvSpPr txBox="1"/>
          <p:nvPr/>
        </p:nvSpPr>
        <p:spPr>
          <a:xfrm>
            <a:off x="8119872" y="4361688"/>
            <a:ext cx="3520440" cy="960120"/>
          </a:xfrm>
          <a:prstGeom prst="rect">
            <a:avLst/>
          </a:prstGeom>
          <a:noFill/>
        </p:spPr>
        <p:txBody>
          <a:bodyPr wrap="square" lIns="54864" rIns="54864" tIns="36576" bIns="18288" anchor="t"/>
          <a:lstStyle/>
          <a:p>
            <a:pPr algn="l">
              <a:lnSpc>
                <a:spcPct val="105000"/>
              </a:lnSpc>
              <a:spcBef>
                <a:spcPts val="0"/>
              </a:spcBef>
              <a:spcAft>
                <a:spcPts val="0"/>
              </a:spcAft>
            </a:pPr>
            <a:r>
              <a:rPr sz="1500" b="0" i="0">
                <a:solidFill>
                  <a:srgbClr val="1C2B36"/>
                </a:solidFill>
                <a:latin typeface="Calibri"/>
                <a:cs typeface="Calibri"/>
                <a:ea typeface="Calibri"/>
              </a:rPr>
              <a:t>Diseconomies. The firm has become harder to run.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INTERNAL</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Caused by this firm’s own output</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19/44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53312"/>
            <a:ext cx="91440" cy="1578864"/>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40080" y="1499616"/>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An internal economy is a fall in long-run average cost as this firm produces more. It is a movement down the LRAC curve. Purchasing: the bakery that doubles output and pays less per tonne of flour. Technical: one welding line spread over more buses. Financial: a larger firm borrows at a lower rate.</a:t>
            </a:r>
          </a:p>
        </p:txBody>
      </p:sp>
      <p:sp>
        <p:nvSpPr>
          <p:cNvPr id="12" name="Rectangle 11"/>
          <p:cNvSpPr/>
          <p:nvPr/>
        </p:nvSpPr>
        <p:spPr>
          <a:xfrm>
            <a:off x="384048" y="3078479"/>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3" name="Rectangle 12"/>
          <p:cNvSpPr/>
          <p:nvPr/>
        </p:nvSpPr>
        <p:spPr>
          <a:xfrm>
            <a:off x="384048" y="3078479"/>
            <a:ext cx="91440" cy="1578864"/>
          </a:xfrm>
          <a:prstGeom prst="rect">
            <a:avLst/>
          </a:prstGeom>
          <a:solidFill>
            <a:srgbClr val="55CDC0"/>
          </a:solidFill>
          <a:ln>
            <a:noFill/>
          </a:ln>
          <a:effectLst/>
        </p:spPr>
        <p:txBody>
          <a:bodyPr rtlCol="0" anchor="ctr"/>
          <a:lstStyle/>
          <a:p>
            <a:pPr algn="ctr"/>
          </a:p>
        </p:txBody>
      </p:sp>
      <p:sp>
        <p:nvSpPr>
          <p:cNvPr id="14" name="TextBox 13"/>
          <p:cNvSpPr txBox="1"/>
          <p:nvPr/>
        </p:nvSpPr>
        <p:spPr>
          <a:xfrm>
            <a:off x="640080" y="3224783"/>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Also on the specification: managerial specialisation, marketing, and risk-bearing. Risk-bearing means a demand shock in one market is spread across a larger firm. It is not the same as buying insurance. If the example is the firm’s own growth, it is internal.</a:t>
            </a:r>
          </a:p>
        </p:txBody>
      </p:sp>
      <p:sp>
        <p:nvSpPr>
          <p:cNvPr id="15" name="Rectangle 14"/>
          <p:cNvSpPr/>
          <p:nvPr/>
        </p:nvSpPr>
        <p:spPr>
          <a:xfrm>
            <a:off x="384048" y="4803648"/>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6" name="Rectangle 15"/>
          <p:cNvSpPr/>
          <p:nvPr/>
        </p:nvSpPr>
        <p:spPr>
          <a:xfrm>
            <a:off x="384048" y="4803648"/>
            <a:ext cx="91440" cy="1578864"/>
          </a:xfrm>
          <a:prstGeom prst="rect">
            <a:avLst/>
          </a:prstGeom>
          <a:solidFill>
            <a:srgbClr val="55CDC0"/>
          </a:solidFill>
          <a:ln>
            <a:noFill/>
          </a:ln>
          <a:effectLst/>
        </p:spPr>
        <p:txBody>
          <a:bodyPr rtlCol="0" anchor="ctr"/>
          <a:lstStyle/>
          <a:p>
            <a:pPr algn="ctr"/>
          </a:p>
        </p:txBody>
      </p:sp>
      <p:sp>
        <p:nvSpPr>
          <p:cNvPr id="17" name="TextBox 16"/>
          <p:cNvSpPr txBox="1"/>
          <p:nvPr/>
        </p:nvSpPr>
        <p:spPr>
          <a:xfrm>
            <a:off x="640080" y="4949952"/>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MCQ answer is the bakery and the flour, not the college and not the port.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SCALE</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Whose growth cut the cost?</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20/44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5623560" cy="5029200"/>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6172200" y="1353312"/>
            <a:ext cx="5623560" cy="5029200"/>
          </a:xfrm>
          <a:prstGeom prst="rect">
            <a:avLst/>
          </a:prstGeom>
          <a:solidFill>
            <a:srgbClr val="FFFFFF"/>
          </a:solidFill>
          <a:ln w="12700">
            <a:solidFill>
              <a:srgbClr val="D5E2E6"/>
            </a:solidFill>
          </a:ln>
          <a:effectLst/>
        </p:spPr>
        <p:txBody>
          <a:bodyPr rtlCol="0" anchor="ctr"/>
          <a:lstStyle/>
          <a:p>
            <a:pPr algn="ctr"/>
          </a:p>
        </p:txBody>
      </p:sp>
      <p:sp>
        <p:nvSpPr>
          <p:cNvPr id="11" name="Rectangle 10"/>
          <p:cNvSpPr/>
          <p:nvPr/>
        </p:nvSpPr>
        <p:spPr>
          <a:xfrm>
            <a:off x="384048" y="1353312"/>
            <a:ext cx="5623560" cy="640080"/>
          </a:xfrm>
          <a:prstGeom prst="rect">
            <a:avLst/>
          </a:prstGeom>
          <a:solidFill>
            <a:srgbClr val="182D3D"/>
          </a:solidFill>
          <a:ln>
            <a:noFill/>
          </a:ln>
          <a:effectLst/>
        </p:spPr>
        <p:txBody>
          <a:bodyPr rtlCol="0" anchor="ctr"/>
          <a:lstStyle/>
          <a:p>
            <a:pPr algn="ctr"/>
          </a:p>
        </p:txBody>
      </p:sp>
      <p:sp>
        <p:nvSpPr>
          <p:cNvPr id="12" name="Rectangle 11"/>
          <p:cNvSpPr/>
          <p:nvPr/>
        </p:nvSpPr>
        <p:spPr>
          <a:xfrm>
            <a:off x="6172200" y="1353312"/>
            <a:ext cx="5623560" cy="640080"/>
          </a:xfrm>
          <a:prstGeom prst="rect">
            <a:avLst/>
          </a:prstGeom>
          <a:solidFill>
            <a:srgbClr val="0E7C7B"/>
          </a:solidFill>
          <a:ln>
            <a:noFill/>
          </a:ln>
          <a:effectLst/>
        </p:spPr>
        <p:txBody>
          <a:bodyPr rtlCol="0" anchor="ctr"/>
          <a:lstStyle/>
          <a:p>
            <a:pPr algn="ctr"/>
          </a:p>
        </p:txBody>
      </p:sp>
      <p:sp>
        <p:nvSpPr>
          <p:cNvPr id="13" name="TextBox 12"/>
          <p:cNvSpPr txBox="1"/>
          <p:nvPr/>
        </p:nvSpPr>
        <p:spPr>
          <a:xfrm>
            <a:off x="502920" y="1463040"/>
            <a:ext cx="5394960" cy="45720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FFFFFF"/>
                </a:solidFill>
                <a:latin typeface="Calibri"/>
                <a:cs typeface="Calibri"/>
                <a:ea typeface="Calibri"/>
              </a:rPr>
              <a:t>Internal economy</a:t>
            </a:r>
          </a:p>
        </p:txBody>
      </p:sp>
      <p:sp>
        <p:nvSpPr>
          <p:cNvPr id="14" name="TextBox 13"/>
          <p:cNvSpPr txBox="1"/>
          <p:nvPr/>
        </p:nvSpPr>
        <p:spPr>
          <a:xfrm>
            <a:off x="6309360" y="1463040"/>
            <a:ext cx="5394960" cy="45720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FFFFFF"/>
                </a:solidFill>
                <a:latin typeface="Calibri"/>
                <a:cs typeface="Calibri"/>
                <a:ea typeface="Calibri"/>
              </a:rPr>
              <a:t>External economy</a:t>
            </a:r>
          </a:p>
        </p:txBody>
      </p:sp>
      <p:sp>
        <p:nvSpPr>
          <p:cNvPr id="15" name="TextBox 14"/>
          <p:cNvSpPr txBox="1"/>
          <p:nvPr/>
        </p:nvSpPr>
        <p:spPr>
          <a:xfrm>
            <a:off x="530352" y="214884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This firm produces more.</a:t>
            </a:r>
          </a:p>
        </p:txBody>
      </p:sp>
      <p:sp>
        <p:nvSpPr>
          <p:cNvPr id="16" name="TextBox 15"/>
          <p:cNvSpPr txBox="1"/>
          <p:nvPr/>
        </p:nvSpPr>
        <p:spPr>
          <a:xfrm>
            <a:off x="6327648" y="214884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The industry grows, even if this firm does not.</a:t>
            </a:r>
          </a:p>
        </p:txBody>
      </p:sp>
      <p:sp>
        <p:nvSpPr>
          <p:cNvPr id="17" name="TextBox 16"/>
          <p:cNvSpPr txBox="1"/>
          <p:nvPr/>
        </p:nvSpPr>
        <p:spPr>
          <a:xfrm>
            <a:off x="530352" y="301752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Movement down its own LRAC.</a:t>
            </a:r>
          </a:p>
        </p:txBody>
      </p:sp>
      <p:sp>
        <p:nvSpPr>
          <p:cNvPr id="18" name="TextBox 17"/>
          <p:cNvSpPr txBox="1"/>
          <p:nvPr/>
        </p:nvSpPr>
        <p:spPr>
          <a:xfrm>
            <a:off x="6327648" y="301752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The LRAC curve shifts downwards.</a:t>
            </a:r>
          </a:p>
        </p:txBody>
      </p:sp>
      <p:sp>
        <p:nvSpPr>
          <p:cNvPr id="19" name="TextBox 18"/>
          <p:cNvSpPr txBox="1"/>
          <p:nvPr/>
        </p:nvSpPr>
        <p:spPr>
          <a:xfrm>
            <a:off x="530352" y="388620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Bulk chips after the firm doubles output.</a:t>
            </a:r>
          </a:p>
        </p:txBody>
      </p:sp>
      <p:sp>
        <p:nvSpPr>
          <p:cNvPr id="20" name="TextBox 19"/>
          <p:cNvSpPr txBox="1"/>
          <p:nvPr/>
        </p:nvSpPr>
        <p:spPr>
          <a:xfrm>
            <a:off x="6327648" y="388620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A college opens because many firms clustered.</a:t>
            </a:r>
          </a:p>
        </p:txBody>
      </p:sp>
      <p:sp>
        <p:nvSpPr>
          <p:cNvPr id="21" name="TextBox 20"/>
          <p:cNvSpPr txBox="1"/>
          <p:nvPr/>
        </p:nvSpPr>
        <p:spPr>
          <a:xfrm>
            <a:off x="530352" y="475488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One head office instead of two after a merger.</a:t>
            </a:r>
          </a:p>
        </p:txBody>
      </p:sp>
      <p:sp>
        <p:nvSpPr>
          <p:cNvPr id="22" name="TextBox 21"/>
          <p:cNvSpPr txBox="1"/>
          <p:nvPr/>
        </p:nvSpPr>
        <p:spPr>
          <a:xfrm>
            <a:off x="6327648" y="4754880"/>
            <a:ext cx="5303520" cy="822960"/>
          </a:xfrm>
          <a:prstGeom prst="rect">
            <a:avLst/>
          </a:prstGeom>
          <a:noFill/>
        </p:spPr>
        <p:txBody>
          <a:bodyPr wrap="square" lIns="54864" rIns="54864" tIns="36576" bIns="18288" anchor="t"/>
          <a:lstStyle/>
          <a:p>
            <a:pPr algn="l">
              <a:lnSpc>
                <a:spcPct val="105000"/>
              </a:lnSpc>
              <a:spcBef>
                <a:spcPts val="0"/>
              </a:spcBef>
              <a:spcAft>
                <a:spcPts val="0"/>
              </a:spcAft>
            </a:pPr>
            <a:r>
              <a:rPr sz="1600" b="0" i="0">
                <a:solidFill>
                  <a:srgbClr val="1C2B36"/>
                </a:solidFill>
                <a:latin typeface="Calibri"/>
                <a:cs typeface="Calibri"/>
                <a:ea typeface="Calibri"/>
              </a:rPr>
              <a:t>A deeper port, or a pool of trained engineers.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DISECONOMIES</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Three ways a larger firm costs more</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21/44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25880"/>
            <a:ext cx="11430000" cy="1603247"/>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25880"/>
            <a:ext cx="91440" cy="1603247"/>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40080" y="1380744"/>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Communication</a:t>
            </a:r>
          </a:p>
        </p:txBody>
      </p:sp>
      <p:sp>
        <p:nvSpPr>
          <p:cNvPr id="12" name="TextBox 11"/>
          <p:cNvSpPr txBox="1"/>
          <p:nvPr/>
        </p:nvSpPr>
        <p:spPr>
          <a:xfrm>
            <a:off x="640080" y="1746504"/>
            <a:ext cx="10972800" cy="1109471"/>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More layers between the board and the work. A quality report that takes days lets faults become rework, so cost per unit rises.</a:t>
            </a:r>
          </a:p>
        </p:txBody>
      </p:sp>
      <p:sp>
        <p:nvSpPr>
          <p:cNvPr id="13" name="Rectangle 12"/>
          <p:cNvSpPr/>
          <p:nvPr/>
        </p:nvSpPr>
        <p:spPr>
          <a:xfrm>
            <a:off x="384048" y="3038856"/>
            <a:ext cx="11430000" cy="1603247"/>
          </a:xfrm>
          <a:prstGeom prst="rect">
            <a:avLst/>
          </a:prstGeom>
          <a:solidFill>
            <a:srgbClr val="FFFFFF"/>
          </a:solidFill>
          <a:ln w="12700">
            <a:solidFill>
              <a:srgbClr val="D5E2E6"/>
            </a:solidFill>
          </a:ln>
          <a:effectLst/>
        </p:spPr>
        <p:txBody>
          <a:bodyPr rtlCol="0" anchor="ctr"/>
          <a:lstStyle/>
          <a:p>
            <a:pPr algn="ctr"/>
          </a:p>
        </p:txBody>
      </p:sp>
      <p:sp>
        <p:nvSpPr>
          <p:cNvPr id="14" name="Rectangle 13"/>
          <p:cNvSpPr/>
          <p:nvPr/>
        </p:nvSpPr>
        <p:spPr>
          <a:xfrm>
            <a:off x="384048" y="3038856"/>
            <a:ext cx="91440" cy="1603247"/>
          </a:xfrm>
          <a:prstGeom prst="rect">
            <a:avLst/>
          </a:prstGeom>
          <a:solidFill>
            <a:srgbClr val="55CDC0"/>
          </a:solidFill>
          <a:ln>
            <a:noFill/>
          </a:ln>
          <a:effectLst/>
        </p:spPr>
        <p:txBody>
          <a:bodyPr rtlCol="0" anchor="ctr"/>
          <a:lstStyle/>
          <a:p>
            <a:pPr algn="ctr"/>
          </a:p>
        </p:txBody>
      </p:sp>
      <p:sp>
        <p:nvSpPr>
          <p:cNvPr id="15" name="TextBox 14"/>
          <p:cNvSpPr txBox="1"/>
          <p:nvPr/>
        </p:nvSpPr>
        <p:spPr>
          <a:xfrm>
            <a:off x="640080" y="3093720"/>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Coordination</a:t>
            </a:r>
          </a:p>
        </p:txBody>
      </p:sp>
      <p:sp>
        <p:nvSpPr>
          <p:cNvPr id="16" name="TextBox 15"/>
          <p:cNvSpPr txBox="1"/>
          <p:nvPr/>
        </p:nvSpPr>
        <p:spPr>
          <a:xfrm>
            <a:off x="640080" y="3459480"/>
            <a:ext cx="10972800" cy="1109471"/>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Timetables, crews and plants have to be planned together. Idle capacity in one place and shortages in another raise average cost.</a:t>
            </a:r>
          </a:p>
        </p:txBody>
      </p:sp>
      <p:sp>
        <p:nvSpPr>
          <p:cNvPr id="17" name="Rectangle 16"/>
          <p:cNvSpPr/>
          <p:nvPr/>
        </p:nvSpPr>
        <p:spPr>
          <a:xfrm>
            <a:off x="384048" y="4751832"/>
            <a:ext cx="11430000" cy="1603247"/>
          </a:xfrm>
          <a:prstGeom prst="rect">
            <a:avLst/>
          </a:prstGeom>
          <a:solidFill>
            <a:srgbClr val="FFFFFF"/>
          </a:solidFill>
          <a:ln w="12700">
            <a:solidFill>
              <a:srgbClr val="D5E2E6"/>
            </a:solidFill>
          </a:ln>
          <a:effectLst/>
        </p:spPr>
        <p:txBody>
          <a:bodyPr rtlCol="0" anchor="ctr"/>
          <a:lstStyle/>
          <a:p>
            <a:pPr algn="ctr"/>
          </a:p>
        </p:txBody>
      </p:sp>
      <p:sp>
        <p:nvSpPr>
          <p:cNvPr id="18" name="Rectangle 17"/>
          <p:cNvSpPr/>
          <p:nvPr/>
        </p:nvSpPr>
        <p:spPr>
          <a:xfrm>
            <a:off x="384048" y="4751832"/>
            <a:ext cx="91440" cy="1603247"/>
          </a:xfrm>
          <a:prstGeom prst="rect">
            <a:avLst/>
          </a:prstGeom>
          <a:solidFill>
            <a:srgbClr val="55CDC0"/>
          </a:solidFill>
          <a:ln>
            <a:noFill/>
          </a:ln>
          <a:effectLst/>
        </p:spPr>
        <p:txBody>
          <a:bodyPr rtlCol="0" anchor="ctr"/>
          <a:lstStyle/>
          <a:p>
            <a:pPr algn="ctr"/>
          </a:p>
        </p:txBody>
      </p:sp>
      <p:sp>
        <p:nvSpPr>
          <p:cNvPr id="19" name="TextBox 18"/>
          <p:cNvSpPr txBox="1"/>
          <p:nvPr/>
        </p:nvSpPr>
        <p:spPr>
          <a:xfrm>
            <a:off x="640080" y="4806695"/>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X-inefficiency</a:t>
            </a:r>
          </a:p>
        </p:txBody>
      </p:sp>
      <p:sp>
        <p:nvSpPr>
          <p:cNvPr id="20" name="TextBox 19"/>
          <p:cNvSpPr txBox="1"/>
          <p:nvPr/>
        </p:nvSpPr>
        <p:spPr>
          <a:xfrm>
            <a:off x="640080" y="5172456"/>
            <a:ext cx="10972800" cy="1109471"/>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With fewer rivals, the firm may allow costs to sit above the lowest LRAC it could reach. Organisational slack is an accepted source.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MES</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The lowest output at the bottom of LRAC</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22/44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53312"/>
            <a:ext cx="91440" cy="1578864"/>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40080" y="1499616"/>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The minimum efficient scale is the lowest output at which long-run average cost is minimised. Below it, internal economies are not yet used up. It is not the profit-maximising output, and it is not where MR is zero.</a:t>
            </a:r>
          </a:p>
        </p:txBody>
      </p:sp>
      <p:sp>
        <p:nvSpPr>
          <p:cNvPr id="12" name="Rectangle 11"/>
          <p:cNvSpPr/>
          <p:nvPr/>
        </p:nvSpPr>
        <p:spPr>
          <a:xfrm>
            <a:off x="384048" y="3078479"/>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3" name="Rectangle 12"/>
          <p:cNvSpPr/>
          <p:nvPr/>
        </p:nvSpPr>
        <p:spPr>
          <a:xfrm>
            <a:off x="384048" y="3078479"/>
            <a:ext cx="91440" cy="1578864"/>
          </a:xfrm>
          <a:prstGeom prst="rect">
            <a:avLst/>
          </a:prstGeom>
          <a:solidFill>
            <a:srgbClr val="55CDC0"/>
          </a:solidFill>
          <a:ln>
            <a:noFill/>
          </a:ln>
          <a:effectLst/>
        </p:spPr>
        <p:txBody>
          <a:bodyPr rtlCol="0" anchor="ctr"/>
          <a:lstStyle/>
          <a:p>
            <a:pPr algn="ctr"/>
          </a:p>
        </p:txBody>
      </p:sp>
      <p:sp>
        <p:nvSpPr>
          <p:cNvPr id="14" name="TextBox 13"/>
          <p:cNvSpPr txBox="1"/>
          <p:nvPr/>
        </p:nvSpPr>
        <p:spPr>
          <a:xfrm>
            <a:off x="640080" y="3224783"/>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A firm should not always produce there. Profit is maximised where MC = MR. If demand is for 400 buses and the MES is 2,000, building 2,000 leaves buses unsold. Past the MES, diseconomies make LRAC rise, so ‘always’ is wrong on that side too.</a:t>
            </a:r>
          </a:p>
        </p:txBody>
      </p:sp>
      <p:sp>
        <p:nvSpPr>
          <p:cNvPr id="15" name="Rectangle 14"/>
          <p:cNvSpPr/>
          <p:nvPr/>
        </p:nvSpPr>
        <p:spPr>
          <a:xfrm>
            <a:off x="384048" y="4803648"/>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6" name="Rectangle 15"/>
          <p:cNvSpPr/>
          <p:nvPr/>
        </p:nvSpPr>
        <p:spPr>
          <a:xfrm>
            <a:off x="384048" y="4803648"/>
            <a:ext cx="91440" cy="1578864"/>
          </a:xfrm>
          <a:prstGeom prst="rect">
            <a:avLst/>
          </a:prstGeom>
          <a:solidFill>
            <a:srgbClr val="55CDC0"/>
          </a:solidFill>
          <a:ln>
            <a:noFill/>
          </a:ln>
          <a:effectLst/>
        </p:spPr>
        <p:txBody>
          <a:bodyPr rtlCol="0" anchor="ctr"/>
          <a:lstStyle/>
          <a:p>
            <a:pPr algn="ctr"/>
          </a:p>
        </p:txBody>
      </p:sp>
      <p:sp>
        <p:nvSpPr>
          <p:cNvPr id="17" name="TextBox 16"/>
          <p:cNvSpPr txBox="1"/>
          <p:nvPr/>
        </p:nvSpPr>
        <p:spPr>
          <a:xfrm>
            <a:off x="640080" y="4949952"/>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2-mark definition. Reject ‘where MC = MR’.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CHECK · 1 MARK</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One answer. Commit before you look.</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23/44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TextBox 8"/>
          <p:cNvSpPr txBox="1"/>
          <p:nvPr/>
        </p:nvSpPr>
        <p:spPr>
          <a:xfrm>
            <a:off x="457200" y="1325880"/>
            <a:ext cx="11247120" cy="11887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Which is an internal economy of scale?</a:t>
            </a:r>
          </a:p>
        </p:txBody>
      </p:sp>
      <p:sp>
        <p:nvSpPr>
          <p:cNvPr id="10" name="Rectangle 9"/>
          <p:cNvSpPr/>
          <p:nvPr/>
        </p:nvSpPr>
        <p:spPr>
          <a:xfrm>
            <a:off x="457200" y="265176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1" name="TextBox 10"/>
          <p:cNvSpPr txBox="1"/>
          <p:nvPr/>
        </p:nvSpPr>
        <p:spPr>
          <a:xfrm>
            <a:off x="640080" y="281635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A   A college opens because many electronics firms have clustered.</a:t>
            </a:r>
          </a:p>
        </p:txBody>
      </p:sp>
      <p:sp>
        <p:nvSpPr>
          <p:cNvPr id="12" name="Rectangle 11"/>
          <p:cNvSpPr/>
          <p:nvPr/>
        </p:nvSpPr>
        <p:spPr>
          <a:xfrm>
            <a:off x="457200" y="3520439"/>
            <a:ext cx="11247120" cy="777240"/>
          </a:xfrm>
          <a:prstGeom prst="rect">
            <a:avLst/>
          </a:prstGeom>
          <a:solidFill>
            <a:srgbClr val="FFFFFF"/>
          </a:solidFill>
          <a:ln w="12700">
            <a:solidFill>
              <a:srgbClr val="D5E2E6"/>
            </a:solidFill>
          </a:ln>
          <a:effectLst/>
        </p:spPr>
        <p:txBody>
          <a:bodyPr rtlCol="0" anchor="ctr"/>
          <a:lstStyle/>
          <a:p>
            <a:pPr algn="ctr"/>
          </a:p>
        </p:txBody>
      </p:sp>
      <p:sp>
        <p:nvSpPr>
          <p:cNvPr id="13" name="TextBox 12"/>
          <p:cNvSpPr txBox="1"/>
          <p:nvPr/>
        </p:nvSpPr>
        <p:spPr>
          <a:xfrm>
            <a:off x="640080" y="3685031"/>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B   A shared port is deepened as the whole export industry grows.</a:t>
            </a:r>
          </a:p>
        </p:txBody>
      </p:sp>
      <p:sp>
        <p:nvSpPr>
          <p:cNvPr id="14" name="Rectangle 13"/>
          <p:cNvSpPr/>
          <p:nvPr/>
        </p:nvSpPr>
        <p:spPr>
          <a:xfrm>
            <a:off x="457200" y="438912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5" name="TextBox 14"/>
          <p:cNvSpPr txBox="1"/>
          <p:nvPr/>
        </p:nvSpPr>
        <p:spPr>
          <a:xfrm>
            <a:off x="640080" y="455371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C   A higher world gas price raises every firm’s average costs.</a:t>
            </a:r>
          </a:p>
        </p:txBody>
      </p:sp>
      <p:sp>
        <p:nvSpPr>
          <p:cNvPr id="16" name="Rectangle 15"/>
          <p:cNvSpPr/>
          <p:nvPr/>
        </p:nvSpPr>
        <p:spPr>
          <a:xfrm>
            <a:off x="457200" y="525780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7" name="TextBox 16"/>
          <p:cNvSpPr txBox="1"/>
          <p:nvPr/>
        </p:nvSpPr>
        <p:spPr>
          <a:xfrm>
            <a:off x="640080" y="542239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D   One bakery doubles its own output and pays less per tonne of flour.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CHECK · 1 MARK</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One answer. Commit before you look.</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24/44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TextBox 8"/>
          <p:cNvSpPr txBox="1"/>
          <p:nvPr/>
        </p:nvSpPr>
        <p:spPr>
          <a:xfrm>
            <a:off x="457200" y="1325880"/>
            <a:ext cx="11247120" cy="11887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AVC at 8,000 units? TFC $24,000. TVC $40,000 at 8,000.</a:t>
            </a:r>
          </a:p>
        </p:txBody>
      </p:sp>
      <p:sp>
        <p:nvSpPr>
          <p:cNvPr id="10" name="Rectangle 9"/>
          <p:cNvSpPr/>
          <p:nvPr/>
        </p:nvSpPr>
        <p:spPr>
          <a:xfrm>
            <a:off x="457200" y="265176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1" name="TextBox 10"/>
          <p:cNvSpPr txBox="1"/>
          <p:nvPr/>
        </p:nvSpPr>
        <p:spPr>
          <a:xfrm>
            <a:off x="640080" y="281635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A   $3</a:t>
            </a:r>
          </a:p>
        </p:txBody>
      </p:sp>
      <p:sp>
        <p:nvSpPr>
          <p:cNvPr id="12" name="Rectangle 11"/>
          <p:cNvSpPr/>
          <p:nvPr/>
        </p:nvSpPr>
        <p:spPr>
          <a:xfrm>
            <a:off x="457200" y="3520439"/>
            <a:ext cx="11247120" cy="777240"/>
          </a:xfrm>
          <a:prstGeom prst="rect">
            <a:avLst/>
          </a:prstGeom>
          <a:solidFill>
            <a:srgbClr val="FFFFFF"/>
          </a:solidFill>
          <a:ln w="12700">
            <a:solidFill>
              <a:srgbClr val="D5E2E6"/>
            </a:solidFill>
          </a:ln>
          <a:effectLst/>
        </p:spPr>
        <p:txBody>
          <a:bodyPr rtlCol="0" anchor="ctr"/>
          <a:lstStyle/>
          <a:p>
            <a:pPr algn="ctr"/>
          </a:p>
        </p:txBody>
      </p:sp>
      <p:sp>
        <p:nvSpPr>
          <p:cNvPr id="13" name="TextBox 12"/>
          <p:cNvSpPr txBox="1"/>
          <p:nvPr/>
        </p:nvSpPr>
        <p:spPr>
          <a:xfrm>
            <a:off x="640080" y="3685031"/>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B   $5</a:t>
            </a:r>
          </a:p>
        </p:txBody>
      </p:sp>
      <p:sp>
        <p:nvSpPr>
          <p:cNvPr id="14" name="Rectangle 13"/>
          <p:cNvSpPr/>
          <p:nvPr/>
        </p:nvSpPr>
        <p:spPr>
          <a:xfrm>
            <a:off x="457200" y="438912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5" name="TextBox 14"/>
          <p:cNvSpPr txBox="1"/>
          <p:nvPr/>
        </p:nvSpPr>
        <p:spPr>
          <a:xfrm>
            <a:off x="640080" y="455371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C   $8</a:t>
            </a:r>
          </a:p>
        </p:txBody>
      </p:sp>
      <p:sp>
        <p:nvSpPr>
          <p:cNvPr id="16" name="Rectangle 15"/>
          <p:cNvSpPr/>
          <p:nvPr/>
        </p:nvSpPr>
        <p:spPr>
          <a:xfrm>
            <a:off x="457200" y="525780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7" name="TextBox 16"/>
          <p:cNvSpPr txBox="1"/>
          <p:nvPr/>
        </p:nvSpPr>
        <p:spPr>
          <a:xfrm>
            <a:off x="640080" y="542239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D   $6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CHECK · 1 MARK</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One answer. Commit before you look.</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25/44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TextBox 8"/>
          <p:cNvSpPr txBox="1"/>
          <p:nvPr/>
        </p:nvSpPr>
        <p:spPr>
          <a:xfrm>
            <a:off x="457200" y="1325880"/>
            <a:ext cx="11247120" cy="11887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Using the table, at which output is profit maximised?</a:t>
            </a:r>
          </a:p>
        </p:txBody>
      </p:sp>
      <p:sp>
        <p:nvSpPr>
          <p:cNvPr id="10" name="Rectangle 9"/>
          <p:cNvSpPr/>
          <p:nvPr/>
        </p:nvSpPr>
        <p:spPr>
          <a:xfrm>
            <a:off x="457200" y="265176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1" name="TextBox 10"/>
          <p:cNvSpPr txBox="1"/>
          <p:nvPr/>
        </p:nvSpPr>
        <p:spPr>
          <a:xfrm>
            <a:off x="640080" y="281635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A   3 units, where profit is $6.</a:t>
            </a:r>
          </a:p>
        </p:txBody>
      </p:sp>
      <p:sp>
        <p:nvSpPr>
          <p:cNvPr id="12" name="Rectangle 11"/>
          <p:cNvSpPr/>
          <p:nvPr/>
        </p:nvSpPr>
        <p:spPr>
          <a:xfrm>
            <a:off x="457200" y="3520439"/>
            <a:ext cx="11247120" cy="777240"/>
          </a:xfrm>
          <a:prstGeom prst="rect">
            <a:avLst/>
          </a:prstGeom>
          <a:solidFill>
            <a:srgbClr val="FFFFFF"/>
          </a:solidFill>
          <a:ln w="12700">
            <a:solidFill>
              <a:srgbClr val="D5E2E6"/>
            </a:solidFill>
          </a:ln>
          <a:effectLst/>
        </p:spPr>
        <p:txBody>
          <a:bodyPr rtlCol="0" anchor="ctr"/>
          <a:lstStyle/>
          <a:p>
            <a:pPr algn="ctr"/>
          </a:p>
        </p:txBody>
      </p:sp>
      <p:sp>
        <p:nvSpPr>
          <p:cNvPr id="13" name="TextBox 12"/>
          <p:cNvSpPr txBox="1"/>
          <p:nvPr/>
        </p:nvSpPr>
        <p:spPr>
          <a:xfrm>
            <a:off x="640080" y="3685031"/>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B   4 units, where profit is $12.</a:t>
            </a:r>
          </a:p>
        </p:txBody>
      </p:sp>
      <p:sp>
        <p:nvSpPr>
          <p:cNvPr id="14" name="Rectangle 13"/>
          <p:cNvSpPr/>
          <p:nvPr/>
        </p:nvSpPr>
        <p:spPr>
          <a:xfrm>
            <a:off x="457200" y="438912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5" name="TextBox 14"/>
          <p:cNvSpPr txBox="1"/>
          <p:nvPr/>
        </p:nvSpPr>
        <p:spPr>
          <a:xfrm>
            <a:off x="640080" y="455371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C   5 units, where profit is $10.</a:t>
            </a:r>
          </a:p>
        </p:txBody>
      </p:sp>
      <p:sp>
        <p:nvSpPr>
          <p:cNvPr id="16" name="Rectangle 15"/>
          <p:cNvSpPr/>
          <p:nvPr/>
        </p:nvSpPr>
        <p:spPr>
          <a:xfrm>
            <a:off x="457200" y="525780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7" name="TextBox 16"/>
          <p:cNvSpPr txBox="1"/>
          <p:nvPr/>
        </p:nvSpPr>
        <p:spPr>
          <a:xfrm>
            <a:off x="640080" y="542239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D   6 units, where total revenue is higher and profit is zero.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CHECK · 1 MARK</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One answer. Commit before you look.</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26/44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TextBox 8"/>
          <p:cNvSpPr txBox="1"/>
          <p:nvPr/>
        </p:nvSpPr>
        <p:spPr>
          <a:xfrm>
            <a:off x="457200" y="1325880"/>
            <a:ext cx="11247120" cy="11887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On Figure 5, profit is maximised at which output?</a:t>
            </a:r>
          </a:p>
        </p:txBody>
      </p:sp>
      <p:sp>
        <p:nvSpPr>
          <p:cNvPr id="10" name="Rectangle 9"/>
          <p:cNvSpPr/>
          <p:nvPr/>
        </p:nvSpPr>
        <p:spPr>
          <a:xfrm>
            <a:off x="457200" y="265176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1" name="TextBox 10"/>
          <p:cNvSpPr txBox="1"/>
          <p:nvPr/>
        </p:nvSpPr>
        <p:spPr>
          <a:xfrm>
            <a:off x="640080" y="281635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A   0 units.</a:t>
            </a:r>
          </a:p>
        </p:txBody>
      </p:sp>
      <p:sp>
        <p:nvSpPr>
          <p:cNvPr id="12" name="Rectangle 11"/>
          <p:cNvSpPr/>
          <p:nvPr/>
        </p:nvSpPr>
        <p:spPr>
          <a:xfrm>
            <a:off x="457200" y="3520439"/>
            <a:ext cx="11247120" cy="777240"/>
          </a:xfrm>
          <a:prstGeom prst="rect">
            <a:avLst/>
          </a:prstGeom>
          <a:solidFill>
            <a:srgbClr val="FFFFFF"/>
          </a:solidFill>
          <a:ln w="12700">
            <a:solidFill>
              <a:srgbClr val="D5E2E6"/>
            </a:solidFill>
          </a:ln>
          <a:effectLst/>
        </p:spPr>
        <p:txBody>
          <a:bodyPr rtlCol="0" anchor="ctr"/>
          <a:lstStyle/>
          <a:p>
            <a:pPr algn="ctr"/>
          </a:p>
        </p:txBody>
      </p:sp>
      <p:sp>
        <p:nvSpPr>
          <p:cNvPr id="13" name="TextBox 12"/>
          <p:cNvSpPr txBox="1"/>
          <p:nvPr/>
        </p:nvSpPr>
        <p:spPr>
          <a:xfrm>
            <a:off x="640080" y="3685031"/>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B   8 units, where MC cuts MR from below.</a:t>
            </a:r>
          </a:p>
        </p:txBody>
      </p:sp>
      <p:sp>
        <p:nvSpPr>
          <p:cNvPr id="14" name="Rectangle 13"/>
          <p:cNvSpPr/>
          <p:nvPr/>
        </p:nvSpPr>
        <p:spPr>
          <a:xfrm>
            <a:off x="457200" y="438912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5" name="TextBox 14"/>
          <p:cNvSpPr txBox="1"/>
          <p:nvPr/>
        </p:nvSpPr>
        <p:spPr>
          <a:xfrm>
            <a:off x="640080" y="455371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C   16 units, where marginal revenue is zero.</a:t>
            </a:r>
          </a:p>
        </p:txBody>
      </p:sp>
      <p:sp>
        <p:nvSpPr>
          <p:cNvPr id="16" name="Rectangle 15"/>
          <p:cNvSpPr/>
          <p:nvPr/>
        </p:nvSpPr>
        <p:spPr>
          <a:xfrm>
            <a:off x="457200" y="525780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7" name="TextBox 16"/>
          <p:cNvSpPr txBox="1"/>
          <p:nvPr/>
        </p:nvSpPr>
        <p:spPr>
          <a:xfrm>
            <a:off x="640080" y="542239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D   20 units, where marginal revenue is negative.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CHECK · 1 MARK</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One answer. Commit before you look.</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27/44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TextBox 8"/>
          <p:cNvSpPr txBox="1"/>
          <p:nvPr/>
        </p:nvSpPr>
        <p:spPr>
          <a:xfrm>
            <a:off x="457200" y="1325880"/>
            <a:ext cx="11247120" cy="11887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Shut down immediately in the short run if:</a:t>
            </a:r>
          </a:p>
        </p:txBody>
      </p:sp>
      <p:sp>
        <p:nvSpPr>
          <p:cNvPr id="10" name="Rectangle 9"/>
          <p:cNvSpPr/>
          <p:nvPr/>
        </p:nvSpPr>
        <p:spPr>
          <a:xfrm>
            <a:off x="457200" y="265176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1" name="TextBox 10"/>
          <p:cNvSpPr txBox="1"/>
          <p:nvPr/>
        </p:nvSpPr>
        <p:spPr>
          <a:xfrm>
            <a:off x="640080" y="281635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A   AR is below ATC, but still above AVC.</a:t>
            </a:r>
          </a:p>
        </p:txBody>
      </p:sp>
      <p:sp>
        <p:nvSpPr>
          <p:cNvPr id="12" name="Rectangle 11"/>
          <p:cNvSpPr/>
          <p:nvPr/>
        </p:nvSpPr>
        <p:spPr>
          <a:xfrm>
            <a:off x="457200" y="3520439"/>
            <a:ext cx="11247120" cy="777240"/>
          </a:xfrm>
          <a:prstGeom prst="rect">
            <a:avLst/>
          </a:prstGeom>
          <a:solidFill>
            <a:srgbClr val="FFFFFF"/>
          </a:solidFill>
          <a:ln w="12700">
            <a:solidFill>
              <a:srgbClr val="D5E2E6"/>
            </a:solidFill>
          </a:ln>
          <a:effectLst/>
        </p:spPr>
        <p:txBody>
          <a:bodyPr rtlCol="0" anchor="ctr"/>
          <a:lstStyle/>
          <a:p>
            <a:pPr algn="ctr"/>
          </a:p>
        </p:txBody>
      </p:sp>
      <p:sp>
        <p:nvSpPr>
          <p:cNvPr id="13" name="TextBox 12"/>
          <p:cNvSpPr txBox="1"/>
          <p:nvPr/>
        </p:nvSpPr>
        <p:spPr>
          <a:xfrm>
            <a:off x="640080" y="3685031"/>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B   Average revenue is below average variable cost.</a:t>
            </a:r>
          </a:p>
        </p:txBody>
      </p:sp>
      <p:sp>
        <p:nvSpPr>
          <p:cNvPr id="14" name="Rectangle 13"/>
          <p:cNvSpPr/>
          <p:nvPr/>
        </p:nvSpPr>
        <p:spPr>
          <a:xfrm>
            <a:off x="457200" y="438912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5" name="TextBox 14"/>
          <p:cNvSpPr txBox="1"/>
          <p:nvPr/>
        </p:nvSpPr>
        <p:spPr>
          <a:xfrm>
            <a:off x="640080" y="455371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C   MC is above MR, but AR is still above AVC.</a:t>
            </a:r>
          </a:p>
        </p:txBody>
      </p:sp>
      <p:sp>
        <p:nvSpPr>
          <p:cNvPr id="16" name="Rectangle 15"/>
          <p:cNvSpPr/>
          <p:nvPr/>
        </p:nvSpPr>
        <p:spPr>
          <a:xfrm>
            <a:off x="457200" y="525780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7" name="TextBox 16"/>
          <p:cNvSpPr txBox="1"/>
          <p:nvPr/>
        </p:nvSpPr>
        <p:spPr>
          <a:xfrm>
            <a:off x="640080" y="542239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D   The firm is earning only normal profit.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CHECK · 1 MARK</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One answer. Commit before you look.</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28/44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TextBox 8"/>
          <p:cNvSpPr txBox="1"/>
          <p:nvPr/>
        </p:nvSpPr>
        <p:spPr>
          <a:xfrm>
            <a:off x="457200" y="1325880"/>
            <a:ext cx="11247120" cy="11887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Demand is price inelastic. A rise in price will:</a:t>
            </a:r>
          </a:p>
        </p:txBody>
      </p:sp>
      <p:sp>
        <p:nvSpPr>
          <p:cNvPr id="10" name="Rectangle 9"/>
          <p:cNvSpPr/>
          <p:nvPr/>
        </p:nvSpPr>
        <p:spPr>
          <a:xfrm>
            <a:off x="457200" y="265176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1" name="TextBox 10"/>
          <p:cNvSpPr txBox="1"/>
          <p:nvPr/>
        </p:nvSpPr>
        <p:spPr>
          <a:xfrm>
            <a:off x="640080" y="281635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A   Raise total revenue.</a:t>
            </a:r>
          </a:p>
        </p:txBody>
      </p:sp>
      <p:sp>
        <p:nvSpPr>
          <p:cNvPr id="12" name="Rectangle 11"/>
          <p:cNvSpPr/>
          <p:nvPr/>
        </p:nvSpPr>
        <p:spPr>
          <a:xfrm>
            <a:off x="457200" y="3520439"/>
            <a:ext cx="11247120" cy="777240"/>
          </a:xfrm>
          <a:prstGeom prst="rect">
            <a:avLst/>
          </a:prstGeom>
          <a:solidFill>
            <a:srgbClr val="FFFFFF"/>
          </a:solidFill>
          <a:ln w="12700">
            <a:solidFill>
              <a:srgbClr val="D5E2E6"/>
            </a:solidFill>
          </a:ln>
          <a:effectLst/>
        </p:spPr>
        <p:txBody>
          <a:bodyPr rtlCol="0" anchor="ctr"/>
          <a:lstStyle/>
          <a:p>
            <a:pPr algn="ctr"/>
          </a:p>
        </p:txBody>
      </p:sp>
      <p:sp>
        <p:nvSpPr>
          <p:cNvPr id="13" name="TextBox 12"/>
          <p:cNvSpPr txBox="1"/>
          <p:nvPr/>
        </p:nvSpPr>
        <p:spPr>
          <a:xfrm>
            <a:off x="640080" y="3685031"/>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B   Lower total revenue.</a:t>
            </a:r>
          </a:p>
        </p:txBody>
      </p:sp>
      <p:sp>
        <p:nvSpPr>
          <p:cNvPr id="14" name="Rectangle 13"/>
          <p:cNvSpPr/>
          <p:nvPr/>
        </p:nvSpPr>
        <p:spPr>
          <a:xfrm>
            <a:off x="457200" y="438912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5" name="TextBox 14"/>
          <p:cNvSpPr txBox="1"/>
          <p:nvPr/>
        </p:nvSpPr>
        <p:spPr>
          <a:xfrm>
            <a:off x="640080" y="455371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C   Leave marginal revenue positive.</a:t>
            </a:r>
          </a:p>
        </p:txBody>
      </p:sp>
      <p:sp>
        <p:nvSpPr>
          <p:cNvPr id="16" name="Rectangle 15"/>
          <p:cNvSpPr/>
          <p:nvPr/>
        </p:nvSpPr>
        <p:spPr>
          <a:xfrm>
            <a:off x="457200" y="525780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7" name="TextBox 16"/>
          <p:cNvSpPr txBox="1"/>
          <p:nvPr/>
        </p:nvSpPr>
        <p:spPr>
          <a:xfrm>
            <a:off x="640080" y="542239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D   Move the firm to the output of maximum total revenue.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CHECK · 1 MARK</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One answer. Commit before you look.</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29/44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TextBox 8"/>
          <p:cNvSpPr txBox="1"/>
          <p:nvPr/>
        </p:nvSpPr>
        <p:spPr>
          <a:xfrm>
            <a:off x="457200" y="1325880"/>
            <a:ext cx="11247120" cy="11887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Which is a diseconomy of scale?</a:t>
            </a:r>
          </a:p>
        </p:txBody>
      </p:sp>
      <p:sp>
        <p:nvSpPr>
          <p:cNvPr id="10" name="Rectangle 9"/>
          <p:cNvSpPr/>
          <p:nvPr/>
        </p:nvSpPr>
        <p:spPr>
          <a:xfrm>
            <a:off x="457200" y="265176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1" name="TextBox 10"/>
          <p:cNvSpPr txBox="1"/>
          <p:nvPr/>
        </p:nvSpPr>
        <p:spPr>
          <a:xfrm>
            <a:off x="640080" y="281635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A   Marginal product falls as workers are added to a fixed factory.</a:t>
            </a:r>
          </a:p>
        </p:txBody>
      </p:sp>
      <p:sp>
        <p:nvSpPr>
          <p:cNvPr id="12" name="Rectangle 11"/>
          <p:cNvSpPr/>
          <p:nvPr/>
        </p:nvSpPr>
        <p:spPr>
          <a:xfrm>
            <a:off x="457200" y="3520439"/>
            <a:ext cx="11247120" cy="777240"/>
          </a:xfrm>
          <a:prstGeom prst="rect">
            <a:avLst/>
          </a:prstGeom>
          <a:solidFill>
            <a:srgbClr val="FFFFFF"/>
          </a:solidFill>
          <a:ln w="12700">
            <a:solidFill>
              <a:srgbClr val="D5E2E6"/>
            </a:solidFill>
          </a:ln>
          <a:effectLst/>
        </p:spPr>
        <p:txBody>
          <a:bodyPr rtlCol="0" anchor="ctr"/>
          <a:lstStyle/>
          <a:p>
            <a:pPr algn="ctr"/>
          </a:p>
        </p:txBody>
      </p:sp>
      <p:sp>
        <p:nvSpPr>
          <p:cNvPr id="13" name="TextBox 12"/>
          <p:cNvSpPr txBox="1"/>
          <p:nvPr/>
        </p:nvSpPr>
        <p:spPr>
          <a:xfrm>
            <a:off x="640080" y="3685031"/>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B   Decisions slow down because there are more layers of management.</a:t>
            </a:r>
          </a:p>
        </p:txBody>
      </p:sp>
      <p:sp>
        <p:nvSpPr>
          <p:cNvPr id="14" name="Rectangle 13"/>
          <p:cNvSpPr/>
          <p:nvPr/>
        </p:nvSpPr>
        <p:spPr>
          <a:xfrm>
            <a:off x="457200" y="438912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5" name="TextBox 14"/>
          <p:cNvSpPr txBox="1"/>
          <p:nvPr/>
        </p:nvSpPr>
        <p:spPr>
          <a:xfrm>
            <a:off x="640080" y="455371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C   The world price of oil rises.</a:t>
            </a:r>
          </a:p>
        </p:txBody>
      </p:sp>
      <p:sp>
        <p:nvSpPr>
          <p:cNvPr id="16" name="Rectangle 15"/>
          <p:cNvSpPr/>
          <p:nvPr/>
        </p:nvSpPr>
        <p:spPr>
          <a:xfrm>
            <a:off x="457200" y="525780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7" name="TextBox 16"/>
          <p:cNvSpPr txBox="1"/>
          <p:nvPr/>
        </p:nvSpPr>
        <p:spPr>
          <a:xfrm>
            <a:off x="640080" y="542239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D   Industry growth creates a pool of trained engineers.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CHECK · 1 MARK</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One answer. Commit before you look.</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30/44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TextBox 8"/>
          <p:cNvSpPr txBox="1"/>
          <p:nvPr/>
        </p:nvSpPr>
        <p:spPr>
          <a:xfrm>
            <a:off x="457200" y="1325880"/>
            <a:ext cx="11247120" cy="11887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The minimum efficient scale is:</a:t>
            </a:r>
          </a:p>
        </p:txBody>
      </p:sp>
      <p:sp>
        <p:nvSpPr>
          <p:cNvPr id="10" name="Rectangle 9"/>
          <p:cNvSpPr/>
          <p:nvPr/>
        </p:nvSpPr>
        <p:spPr>
          <a:xfrm>
            <a:off x="457200" y="265176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1" name="TextBox 10"/>
          <p:cNvSpPr txBox="1"/>
          <p:nvPr/>
        </p:nvSpPr>
        <p:spPr>
          <a:xfrm>
            <a:off x="640080" y="281635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A   The output where short-run MC equals AVC.</a:t>
            </a:r>
          </a:p>
        </p:txBody>
      </p:sp>
      <p:sp>
        <p:nvSpPr>
          <p:cNvPr id="12" name="Rectangle 11"/>
          <p:cNvSpPr/>
          <p:nvPr/>
        </p:nvSpPr>
        <p:spPr>
          <a:xfrm>
            <a:off x="457200" y="3520439"/>
            <a:ext cx="11247120" cy="777240"/>
          </a:xfrm>
          <a:prstGeom prst="rect">
            <a:avLst/>
          </a:prstGeom>
          <a:solidFill>
            <a:srgbClr val="FFFFFF"/>
          </a:solidFill>
          <a:ln w="12700">
            <a:solidFill>
              <a:srgbClr val="D5E2E6"/>
            </a:solidFill>
          </a:ln>
          <a:effectLst/>
        </p:spPr>
        <p:txBody>
          <a:bodyPr rtlCol="0" anchor="ctr"/>
          <a:lstStyle/>
          <a:p>
            <a:pPr algn="ctr"/>
          </a:p>
        </p:txBody>
      </p:sp>
      <p:sp>
        <p:nvSpPr>
          <p:cNvPr id="13" name="TextBox 12"/>
          <p:cNvSpPr txBox="1"/>
          <p:nvPr/>
        </p:nvSpPr>
        <p:spPr>
          <a:xfrm>
            <a:off x="640080" y="3685031"/>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B   The output where marginal revenue is zero.</a:t>
            </a:r>
          </a:p>
        </p:txBody>
      </p:sp>
      <p:sp>
        <p:nvSpPr>
          <p:cNvPr id="14" name="Rectangle 13"/>
          <p:cNvSpPr/>
          <p:nvPr/>
        </p:nvSpPr>
        <p:spPr>
          <a:xfrm>
            <a:off x="457200" y="438912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5" name="TextBox 14"/>
          <p:cNvSpPr txBox="1"/>
          <p:nvPr/>
        </p:nvSpPr>
        <p:spPr>
          <a:xfrm>
            <a:off x="640080" y="455371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C   The lowest output at which long-run average cost is minimised.</a:t>
            </a:r>
          </a:p>
        </p:txBody>
      </p:sp>
      <p:sp>
        <p:nvSpPr>
          <p:cNvPr id="16" name="Rectangle 15"/>
          <p:cNvSpPr/>
          <p:nvPr/>
        </p:nvSpPr>
        <p:spPr>
          <a:xfrm>
            <a:off x="457200" y="5257800"/>
            <a:ext cx="11247120" cy="777240"/>
          </a:xfrm>
          <a:prstGeom prst="rect">
            <a:avLst/>
          </a:prstGeom>
          <a:solidFill>
            <a:srgbClr val="FFFFFF"/>
          </a:solidFill>
          <a:ln w="12700">
            <a:solidFill>
              <a:srgbClr val="D5E2E6"/>
            </a:solidFill>
          </a:ln>
          <a:effectLst/>
        </p:spPr>
        <p:txBody>
          <a:bodyPr rtlCol="0" anchor="ctr"/>
          <a:lstStyle/>
          <a:p>
            <a:pPr algn="ctr"/>
          </a:p>
        </p:txBody>
      </p:sp>
      <p:sp>
        <p:nvSpPr>
          <p:cNvPr id="17" name="TextBox 16"/>
          <p:cNvSpPr txBox="1"/>
          <p:nvPr/>
        </p:nvSpPr>
        <p:spPr>
          <a:xfrm>
            <a:off x="640080" y="5422392"/>
            <a:ext cx="10881360" cy="50292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82D3D"/>
                </a:solidFill>
                <a:latin typeface="Calibri"/>
                <a:cs typeface="Calibri"/>
                <a:ea typeface="Calibri"/>
              </a:rPr>
              <a:t>D   The output at which the firm maximises profit.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2 MARKS</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Calculate, then define</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31/44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71600"/>
            <a:ext cx="11430000" cy="4160520"/>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71600"/>
            <a:ext cx="109728" cy="4160520"/>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85800" y="1554480"/>
            <a:ext cx="10881360" cy="30175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1. Total revenue is $112 at 4 units and $130 at 5. Calculate the marginal revenue of the fifth unit.
2. Define the minimum efficient scale.</a:t>
            </a:r>
          </a:p>
        </p:txBody>
      </p:sp>
      <p:sp>
        <p:nvSpPr>
          <p:cNvPr id="12" name="TextBox 11"/>
          <p:cNvSpPr txBox="1"/>
          <p:nvPr/>
        </p:nvSpPr>
        <p:spPr>
          <a:xfrm>
            <a:off x="685800" y="4709160"/>
            <a:ext cx="10881360" cy="548640"/>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0E7C7B"/>
                </a:solidFill>
                <a:latin typeface="Calibri"/>
                <a:cs typeface="Calibri"/>
                <a:ea typeface="Calibri"/>
              </a:rPr>
              <a:t>Two marks each. Show the subtraction on the first. The second needs ‘lowest output’ and ‘LRAC minimised’.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MODEL · 2 AND 4</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What a full answer sounds like</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32/44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5029200"/>
          </a:xfrm>
          <a:prstGeom prst="rect">
            <a:avLst/>
          </a:prstGeom>
          <a:solidFill>
            <a:srgbClr val="FFFFFF"/>
          </a:solidFill>
          <a:ln w="12700">
            <a:solidFill>
              <a:srgbClr val="D5E2E6"/>
            </a:solidFill>
          </a:ln>
          <a:effectLst/>
        </p:spPr>
        <p:txBody>
          <a:bodyPr rtlCol="0" anchor="ctr"/>
          <a:lstStyle/>
          <a:p>
            <a:pPr algn="ctr"/>
          </a:p>
        </p:txBody>
      </p:sp>
      <p:sp>
        <p:nvSpPr>
          <p:cNvPr id="10" name="TextBox 9"/>
          <p:cNvSpPr txBox="1"/>
          <p:nvPr/>
        </p:nvSpPr>
        <p:spPr>
          <a:xfrm>
            <a:off x="594360" y="1508760"/>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0E7C7B"/>
                </a:solidFill>
                <a:latin typeface="Calibri"/>
                <a:cs typeface="Calibri"/>
                <a:ea typeface="Calibri"/>
              </a:rPr>
              <a:t>MARGINAL REVENUE, THEN NORMAL PROFIT</a:t>
            </a:r>
          </a:p>
        </p:txBody>
      </p:sp>
      <p:sp>
        <p:nvSpPr>
          <p:cNvPr id="11" name="TextBox 10"/>
          <p:cNvSpPr txBox="1"/>
          <p:nvPr/>
        </p:nvSpPr>
        <p:spPr>
          <a:xfrm>
            <a:off x="594360" y="1965960"/>
            <a:ext cx="10972800" cy="411480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MR = (130 − 112) / 1 = $18. The new price is not the marginal revenue.
Normal profit is the return already built into costs. It is earned when AR = AC. If AR is $14 and AC is $11, supernormal profit is $3 a unit. A definition that never uses the $14 and $11 stops at 2 out of 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4 MARKS</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One internal, one external</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33/44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71600"/>
            <a:ext cx="11430000" cy="4160520"/>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71600"/>
            <a:ext cx="109728" cy="4160520"/>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85800" y="1554480"/>
            <a:ext cx="10881360" cy="30175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A Vietnamese electronics assembler doubles its own output and negotiates a lower price per chip. In the same year a technical college opens, because many electronics firms have located in that province. Explain one internal economy of scale and one external economy of scale.</a:t>
            </a:r>
          </a:p>
        </p:txBody>
      </p:sp>
      <p:sp>
        <p:nvSpPr>
          <p:cNvPr id="12" name="TextBox 11"/>
          <p:cNvSpPr txBox="1"/>
          <p:nvPr/>
        </p:nvSpPr>
        <p:spPr>
          <a:xfrm>
            <a:off x="685800" y="4709160"/>
            <a:ext cx="10881360" cy="548640"/>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0E7C7B"/>
                </a:solidFill>
                <a:latin typeface="Calibri"/>
                <a:cs typeface="Calibri"/>
                <a:ea typeface="Calibri"/>
              </a:rPr>
              <a:t>Knowledge 2, application 2. Maximum 2 if both examples are internal.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MODEL · 4 MARKS</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Keep the two causes apart</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34/44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5029200"/>
          </a:xfrm>
          <a:prstGeom prst="rect">
            <a:avLst/>
          </a:prstGeom>
          <a:solidFill>
            <a:srgbClr val="FFFFFF"/>
          </a:solidFill>
          <a:ln w="12700">
            <a:solidFill>
              <a:srgbClr val="D5E2E6"/>
            </a:solidFill>
          </a:ln>
          <a:effectLst/>
        </p:spPr>
        <p:txBody>
          <a:bodyPr rtlCol="0" anchor="ctr"/>
          <a:lstStyle/>
          <a:p>
            <a:pPr algn="ctr"/>
          </a:p>
        </p:txBody>
      </p:sp>
      <p:sp>
        <p:nvSpPr>
          <p:cNvPr id="10" name="TextBox 9"/>
          <p:cNvSpPr txBox="1"/>
          <p:nvPr/>
        </p:nvSpPr>
        <p:spPr>
          <a:xfrm>
            <a:off x="594360" y="1508760"/>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0E7C7B"/>
                </a:solidFill>
                <a:latin typeface="Calibri"/>
                <a:cs typeface="Calibri"/>
                <a:ea typeface="Calibri"/>
              </a:rPr>
              <a:t>USE BOTH PARTS OF THE STEM</a:t>
            </a:r>
          </a:p>
        </p:txBody>
      </p:sp>
      <p:sp>
        <p:nvSpPr>
          <p:cNvPr id="11" name="TextBox 10"/>
          <p:cNvSpPr txBox="1"/>
          <p:nvPr/>
        </p:nvSpPr>
        <p:spPr>
          <a:xfrm>
            <a:off x="594360" y="1965960"/>
            <a:ext cx="10972800" cy="411480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The lower chip price is internal. This firm doubled its own output, so average cost falls by a movement along its LRAC. The college is external. It opened because the industry clustered. The pool of skilled labour can shift this firm’s LRAC down even if the firm itself stays the same size.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6 MARKS</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Why a loss-making café stays open</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35/44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71600"/>
            <a:ext cx="11430000" cy="4160520"/>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71600"/>
            <a:ext cx="109728" cy="4160520"/>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85800" y="1554480"/>
            <a:ext cx="10881360" cy="30175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Weekly total fixed cost is $2,000. Price is $6, AVC is $4 and ATC is $9. Analyse two reasons why the café may keep producing this week even though it is making a loss.</a:t>
            </a:r>
          </a:p>
        </p:txBody>
      </p:sp>
      <p:sp>
        <p:nvSpPr>
          <p:cNvPr id="12" name="TextBox 11"/>
          <p:cNvSpPr txBox="1"/>
          <p:nvPr/>
        </p:nvSpPr>
        <p:spPr>
          <a:xfrm>
            <a:off x="685800" y="4709160"/>
            <a:ext cx="10881360" cy="548640"/>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0E7C7B"/>
                </a:solidFill>
                <a:latin typeface="Calibri"/>
                <a:cs typeface="Calibri"/>
                <a:ea typeface="Calibri"/>
              </a:rPr>
              <a:t>Two developed reasons. A second copy of the first reason does not score again.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6 MARKS</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Two diseconomies, not one repeated</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36/44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71600"/>
            <a:ext cx="11430000" cy="4160520"/>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71600"/>
            <a:ext cx="109728" cy="4160520"/>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85800" y="1554480"/>
            <a:ext cx="10881360" cy="30175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Two airlines merge. The new firm has one head office and four hubs, and the two brands no longer compete. Analyse two diseconomies of scale that could raise long-run average cost.</a:t>
            </a:r>
          </a:p>
        </p:txBody>
      </p:sp>
      <p:sp>
        <p:nvSpPr>
          <p:cNvPr id="12" name="TextBox 11"/>
          <p:cNvSpPr txBox="1"/>
          <p:nvPr/>
        </p:nvSpPr>
        <p:spPr>
          <a:xfrm>
            <a:off x="685800" y="4709160"/>
            <a:ext cx="10881360" cy="548640"/>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0E7C7B"/>
                </a:solidFill>
                <a:latin typeface="Calibri"/>
                <a:cs typeface="Calibri"/>
                <a:ea typeface="Calibri"/>
              </a:rPr>
              <a:t>Communication and coordination are the clean pair. X-inefficiency is an accepted third.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8 MARKS · EXAMINE</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Will the second plant cut LRAC?</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37/44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71600"/>
            <a:ext cx="11430000" cy="4160520"/>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71600"/>
            <a:ext cx="109728" cy="4160520"/>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85800" y="1554480"/>
            <a:ext cx="10881360" cy="30175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Atlas Bus builds 800 city buses a year. A second plant would have capacity of 3,000, one automated welding line, and larger steel orders. The sites are 400 km apart and quality reports already take days. Examine the effect on long-run average cost.</a:t>
            </a:r>
          </a:p>
        </p:txBody>
      </p:sp>
      <p:sp>
        <p:nvSpPr>
          <p:cNvPr id="12" name="TextBox 11"/>
          <p:cNvSpPr txBox="1"/>
          <p:nvPr/>
        </p:nvSpPr>
        <p:spPr>
          <a:xfrm>
            <a:off x="685800" y="4709160"/>
            <a:ext cx="10881360" cy="548640"/>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0E7C7B"/>
                </a:solidFill>
                <a:latin typeface="Calibri"/>
                <a:cs typeface="Calibri"/>
                <a:ea typeface="Calibri"/>
              </a:rPr>
              <a:t>Point-marked: knowledge 2, analysis 2, application 2, evaluation 2. One side only is capped at 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MODEL · 8 MARKS</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Both directions, then a judgement</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38/44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5029200"/>
          </a:xfrm>
          <a:prstGeom prst="rect">
            <a:avLst/>
          </a:prstGeom>
          <a:solidFill>
            <a:srgbClr val="FFFFFF"/>
          </a:solidFill>
          <a:ln w="12700">
            <a:solidFill>
              <a:srgbClr val="D5E2E6"/>
            </a:solidFill>
          </a:ln>
          <a:effectLst/>
        </p:spPr>
        <p:txBody>
          <a:bodyPr rtlCol="0" anchor="ctr"/>
          <a:lstStyle/>
          <a:p>
            <a:pPr algn="ctr"/>
          </a:p>
        </p:txBody>
      </p:sp>
      <p:sp>
        <p:nvSpPr>
          <p:cNvPr id="10" name="TextBox 9"/>
          <p:cNvSpPr txBox="1"/>
          <p:nvPr/>
        </p:nvSpPr>
        <p:spPr>
          <a:xfrm>
            <a:off x="594360" y="1508760"/>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0E7C7B"/>
                </a:solidFill>
                <a:latin typeface="Calibri"/>
                <a:cs typeface="Calibri"/>
                <a:ea typeface="Calibri"/>
              </a:rPr>
              <a:t>A SUPPORTED VERDICT, NOT A LIST</a:t>
            </a:r>
          </a:p>
        </p:txBody>
      </p:sp>
      <p:sp>
        <p:nvSpPr>
          <p:cNvPr id="11" name="TextBox 10"/>
          <p:cNvSpPr txBox="1"/>
          <p:nvPr/>
        </p:nvSpPr>
        <p:spPr>
          <a:xfrm>
            <a:off x="594360" y="1965960"/>
            <a:ext cx="10972800" cy="411480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The welding line and the steel discount are internal economies, so cost per bus can fall as output moves from 800 toward 3,000. The 400 km gap is a communication diseconomy: a fault is not acted on for days, and rework raises cost per bus. LRAC is likely to fall only if the buses are actually sold and 3,000 is still below the minimum efficient scale. Spare capacity would leave the line as a fixed cost with too little output.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14 MARKS · DISCUSS</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Does the dairy merger raise profit?</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39/44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71600"/>
            <a:ext cx="11430000" cy="4160520"/>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71600"/>
            <a:ext cx="109728" cy="4160520"/>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85800" y="1554480"/>
            <a:ext cx="10881360" cy="30175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Greenfield Dairies processes 40 million litres. A merger would raise this to 110 million. Packaging and finance costs per litre would fall. There would be four depots and one head office. Supermarkets will switch unless prices fall. Branded milk is price inelastic. Discuss whether profit rises.</a:t>
            </a:r>
          </a:p>
        </p:txBody>
      </p:sp>
      <p:sp>
        <p:nvSpPr>
          <p:cNvPr id="12" name="TextBox 11"/>
          <p:cNvSpPr txBox="1"/>
          <p:nvPr/>
        </p:nvSpPr>
        <p:spPr>
          <a:xfrm>
            <a:off x="685800" y="4709160"/>
            <a:ext cx="10881360" cy="548640"/>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0E7C7B"/>
                </a:solidFill>
                <a:latin typeface="Calibri"/>
                <a:cs typeface="Calibri"/>
                <a:ea typeface="Calibri"/>
              </a:rPr>
              <a:t>KAA 8, evaluation 6. No diagram caps KAA at Level 2. No use of the extract does the same.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14-MARK LEVELS</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What separates the bands</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40/44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25880"/>
            <a:ext cx="11430000" cy="1603247"/>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25880"/>
            <a:ext cx="91440" cy="1603247"/>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40080" y="1380744"/>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KAA 7–8</a:t>
            </a:r>
          </a:p>
        </p:txBody>
      </p:sp>
      <p:sp>
        <p:nvSpPr>
          <p:cNvPr id="12" name="TextBox 11"/>
          <p:cNvSpPr txBox="1"/>
          <p:nvPr/>
        </p:nvSpPr>
        <p:spPr>
          <a:xfrm>
            <a:off x="640080" y="1746504"/>
            <a:ext cx="10972800" cy="1109471"/>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The merger changes cost and then profit, in a chain, using the litres and the diagram. A diagram that is only drawn, and never used, does not do this.</a:t>
            </a:r>
          </a:p>
        </p:txBody>
      </p:sp>
      <p:sp>
        <p:nvSpPr>
          <p:cNvPr id="13" name="Rectangle 12"/>
          <p:cNvSpPr/>
          <p:nvPr/>
        </p:nvSpPr>
        <p:spPr>
          <a:xfrm>
            <a:off x="384048" y="3038856"/>
            <a:ext cx="11430000" cy="1603247"/>
          </a:xfrm>
          <a:prstGeom prst="rect">
            <a:avLst/>
          </a:prstGeom>
          <a:solidFill>
            <a:srgbClr val="FFFFFF"/>
          </a:solidFill>
          <a:ln w="12700">
            <a:solidFill>
              <a:srgbClr val="D5E2E6"/>
            </a:solidFill>
          </a:ln>
          <a:effectLst/>
        </p:spPr>
        <p:txBody>
          <a:bodyPr rtlCol="0" anchor="ctr"/>
          <a:lstStyle/>
          <a:p>
            <a:pPr algn="ctr"/>
          </a:p>
        </p:txBody>
      </p:sp>
      <p:sp>
        <p:nvSpPr>
          <p:cNvPr id="14" name="Rectangle 13"/>
          <p:cNvSpPr/>
          <p:nvPr/>
        </p:nvSpPr>
        <p:spPr>
          <a:xfrm>
            <a:off x="384048" y="3038856"/>
            <a:ext cx="91440" cy="1603247"/>
          </a:xfrm>
          <a:prstGeom prst="rect">
            <a:avLst/>
          </a:prstGeom>
          <a:solidFill>
            <a:srgbClr val="55CDC0"/>
          </a:solidFill>
          <a:ln>
            <a:noFill/>
          </a:ln>
          <a:effectLst/>
        </p:spPr>
        <p:txBody>
          <a:bodyPr rtlCol="0" anchor="ctr"/>
          <a:lstStyle/>
          <a:p>
            <a:pPr algn="ctr"/>
          </a:p>
        </p:txBody>
      </p:sp>
      <p:sp>
        <p:nvSpPr>
          <p:cNvPr id="15" name="TextBox 14"/>
          <p:cNvSpPr txBox="1"/>
          <p:nvPr/>
        </p:nvSpPr>
        <p:spPr>
          <a:xfrm>
            <a:off x="640080" y="3093720"/>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KAA ceiling</a:t>
            </a:r>
          </a:p>
        </p:txBody>
      </p:sp>
      <p:sp>
        <p:nvSpPr>
          <p:cNvPr id="16" name="TextBox 15"/>
          <p:cNvSpPr txBox="1"/>
          <p:nvPr/>
        </p:nvSpPr>
        <p:spPr>
          <a:xfrm>
            <a:off x="640080" y="3459480"/>
            <a:ext cx="10972800" cy="1109471"/>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Level 2 if there is no costs-and-revenue diagram, or if Greenfield, the depots and the supermarkets never appear.</a:t>
            </a:r>
          </a:p>
        </p:txBody>
      </p:sp>
      <p:sp>
        <p:nvSpPr>
          <p:cNvPr id="17" name="Rectangle 16"/>
          <p:cNvSpPr/>
          <p:nvPr/>
        </p:nvSpPr>
        <p:spPr>
          <a:xfrm>
            <a:off x="384048" y="4751832"/>
            <a:ext cx="11430000" cy="1603247"/>
          </a:xfrm>
          <a:prstGeom prst="rect">
            <a:avLst/>
          </a:prstGeom>
          <a:solidFill>
            <a:srgbClr val="FFFFFF"/>
          </a:solidFill>
          <a:ln w="12700">
            <a:solidFill>
              <a:srgbClr val="D5E2E6"/>
            </a:solidFill>
          </a:ln>
          <a:effectLst/>
        </p:spPr>
        <p:txBody>
          <a:bodyPr rtlCol="0" anchor="ctr"/>
          <a:lstStyle/>
          <a:p>
            <a:pPr algn="ctr"/>
          </a:p>
        </p:txBody>
      </p:sp>
      <p:sp>
        <p:nvSpPr>
          <p:cNvPr id="18" name="Rectangle 17"/>
          <p:cNvSpPr/>
          <p:nvPr/>
        </p:nvSpPr>
        <p:spPr>
          <a:xfrm>
            <a:off x="384048" y="4751832"/>
            <a:ext cx="91440" cy="1603247"/>
          </a:xfrm>
          <a:prstGeom prst="rect">
            <a:avLst/>
          </a:prstGeom>
          <a:solidFill>
            <a:srgbClr val="55CDC0"/>
          </a:solidFill>
          <a:ln>
            <a:noFill/>
          </a:ln>
          <a:effectLst/>
        </p:spPr>
        <p:txBody>
          <a:bodyPr rtlCol="0" anchor="ctr"/>
          <a:lstStyle/>
          <a:p>
            <a:pPr algn="ctr"/>
          </a:p>
        </p:txBody>
      </p:sp>
      <p:sp>
        <p:nvSpPr>
          <p:cNvPr id="19" name="TextBox 18"/>
          <p:cNvSpPr txBox="1"/>
          <p:nvPr/>
        </p:nvSpPr>
        <p:spPr>
          <a:xfrm>
            <a:off x="640080" y="4806695"/>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Evaluation 5–6</a:t>
            </a:r>
          </a:p>
        </p:txBody>
      </p:sp>
      <p:sp>
        <p:nvSpPr>
          <p:cNvPr id="20" name="TextBox 19"/>
          <p:cNvSpPr txBox="1"/>
          <p:nvPr/>
        </p:nvSpPr>
        <p:spPr>
          <a:xfrm>
            <a:off x="640080" y="5172456"/>
            <a:ext cx="10972800" cy="1109471"/>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More than one counter-argument, tied to the supermarkets or the four depots, ending in a judgement. A one-sided answer scores zero for evaluation.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MODEL · 14 MARKS</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Cost falls. Profit rises only if the firm keeps it.</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41/44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5029200"/>
          </a:xfrm>
          <a:prstGeom prst="rect">
            <a:avLst/>
          </a:prstGeom>
          <a:solidFill>
            <a:srgbClr val="FFFFFF"/>
          </a:solidFill>
          <a:ln w="12700">
            <a:solidFill>
              <a:srgbClr val="D5E2E6"/>
            </a:solidFill>
          </a:ln>
          <a:effectLst/>
        </p:spPr>
        <p:txBody>
          <a:bodyPr rtlCol="0" anchor="ctr"/>
          <a:lstStyle/>
          <a:p>
            <a:pPr algn="ctr"/>
          </a:p>
        </p:txBody>
      </p:sp>
      <p:sp>
        <p:nvSpPr>
          <p:cNvPr id="10" name="TextBox 9"/>
          <p:cNvSpPr txBox="1"/>
          <p:nvPr/>
        </p:nvSpPr>
        <p:spPr>
          <a:xfrm>
            <a:off x="594360" y="1508760"/>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1400" b="1" i="0">
                <a:solidFill>
                  <a:srgbClr val="0E7C7B"/>
                </a:solidFill>
                <a:latin typeface="Calibri"/>
                <a:cs typeface="Calibri"/>
                <a:ea typeface="Calibri"/>
              </a:rPr>
              <a:t>ANALYSIS, THEN THE SUPERMARKETS</a:t>
            </a:r>
          </a:p>
        </p:txBody>
      </p:sp>
      <p:sp>
        <p:nvSpPr>
          <p:cNvPr id="11" name="TextBox 10"/>
          <p:cNvSpPr txBox="1"/>
          <p:nvPr/>
        </p:nvSpPr>
        <p:spPr>
          <a:xfrm>
            <a:off x="594360" y="1965960"/>
            <a:ext cx="10972800" cy="4114800"/>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Profit is revenue minus cost, and normal profit is already in the cost. Packaging and cheaper finance are internal economies, so LRAC per litre can fall between 40 and 110 million litres. On the diagram, AC and MC shift down. At the new MC = MR the gap between AR and AC is larger, so supernormal profit rises if the price stays up.
It may not. Four depots can raise communication costs. The supermarkets can force a price cut, and inelastic demand means that cut lowers total revenue. The merger raises profit only if the cost saving kept by the firm exceeds that price cut.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20 MARKS · EVALUATE</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Should a firm always produce at MES?</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42/44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71600"/>
            <a:ext cx="11430000" cy="4160520"/>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71600"/>
            <a:ext cx="109728" cy="4160520"/>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85800" y="1554480"/>
            <a:ext cx="10881360" cy="3017520"/>
          </a:xfrm>
          <a:prstGeom prst="rect">
            <a:avLst/>
          </a:prstGeom>
          <a:noFill/>
        </p:spPr>
        <p:txBody>
          <a:bodyPr wrap="square" lIns="54864" rIns="54864" tIns="36576" bIns="18288" anchor="t"/>
          <a:lstStyle/>
          <a:p>
            <a:pPr algn="l">
              <a:lnSpc>
                <a:spcPct val="105000"/>
              </a:lnSpc>
              <a:spcBef>
                <a:spcPts val="0"/>
              </a:spcBef>
              <a:spcAft>
                <a:spcPts val="0"/>
              </a:spcAft>
            </a:pPr>
            <a:r>
              <a:rPr sz="2200" b="0" i="0">
                <a:solidFill>
                  <a:srgbClr val="1C2B36"/>
                </a:solidFill>
                <a:latin typeface="Calibri"/>
                <a:cs typeface="Calibri"/>
                <a:ea typeface="Calibri"/>
              </a:rPr>
              <a:t>Evaluate the view that a firm should always produce at its minimum efficient scale. Illustrate your answer with an appropriate diagram. Write about electric city buses, or another market you know.</a:t>
            </a:r>
          </a:p>
        </p:txBody>
      </p:sp>
      <p:sp>
        <p:nvSpPr>
          <p:cNvPr id="12" name="TextBox 11"/>
          <p:cNvSpPr txBox="1"/>
          <p:nvPr/>
        </p:nvSpPr>
        <p:spPr>
          <a:xfrm>
            <a:off x="685800" y="4709160"/>
            <a:ext cx="10881360" cy="548640"/>
          </a:xfrm>
          <a:prstGeom prst="rect">
            <a:avLst/>
          </a:prstGeom>
          <a:noFill/>
        </p:spPr>
        <p:txBody>
          <a:bodyPr wrap="square" lIns="54864" rIns="54864" tIns="36576" bIns="18288" anchor="t"/>
          <a:lstStyle/>
          <a:p>
            <a:pPr algn="l">
              <a:lnSpc>
                <a:spcPct val="105000"/>
              </a:lnSpc>
              <a:spcBef>
                <a:spcPts val="0"/>
              </a:spcBef>
              <a:spcAft>
                <a:spcPts val="0"/>
              </a:spcAft>
            </a:pPr>
            <a:r>
              <a:rPr sz="1600" b="1" i="0">
                <a:solidFill>
                  <a:srgbClr val="0E7C7B"/>
                </a:solidFill>
                <a:latin typeface="Calibri"/>
                <a:cs typeface="Calibri"/>
                <a:ea typeface="Calibri"/>
              </a:rPr>
              <a:t>KAA 12, evaluation 8. No diagram, or no real market, caps KAA at Level 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20-MARK SHAPE</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Four moves, in this order</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43/44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25880"/>
            <a:ext cx="11430000" cy="1175004"/>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25880"/>
            <a:ext cx="91440" cy="1175004"/>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40080" y="1380744"/>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Define and draw</a:t>
            </a:r>
          </a:p>
        </p:txBody>
      </p:sp>
      <p:sp>
        <p:nvSpPr>
          <p:cNvPr id="12" name="TextBox 11"/>
          <p:cNvSpPr txBox="1"/>
          <p:nvPr/>
        </p:nvSpPr>
        <p:spPr>
          <a:xfrm>
            <a:off x="640080" y="1746504"/>
            <a:ext cx="10972800" cy="681227"/>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U-shaped LRAC. Mark MES at the start of the lowest section. Mark a different output where MC = MR.</a:t>
            </a:r>
          </a:p>
        </p:txBody>
      </p:sp>
      <p:sp>
        <p:nvSpPr>
          <p:cNvPr id="13" name="Rectangle 12"/>
          <p:cNvSpPr/>
          <p:nvPr/>
        </p:nvSpPr>
        <p:spPr>
          <a:xfrm>
            <a:off x="384048" y="2610611"/>
            <a:ext cx="11430000" cy="1175004"/>
          </a:xfrm>
          <a:prstGeom prst="rect">
            <a:avLst/>
          </a:prstGeom>
          <a:solidFill>
            <a:srgbClr val="FFFFFF"/>
          </a:solidFill>
          <a:ln w="12700">
            <a:solidFill>
              <a:srgbClr val="D5E2E6"/>
            </a:solidFill>
          </a:ln>
          <a:effectLst/>
        </p:spPr>
        <p:txBody>
          <a:bodyPr rtlCol="0" anchor="ctr"/>
          <a:lstStyle/>
          <a:p>
            <a:pPr algn="ctr"/>
          </a:p>
        </p:txBody>
      </p:sp>
      <p:sp>
        <p:nvSpPr>
          <p:cNvPr id="14" name="Rectangle 13"/>
          <p:cNvSpPr/>
          <p:nvPr/>
        </p:nvSpPr>
        <p:spPr>
          <a:xfrm>
            <a:off x="384048" y="2610611"/>
            <a:ext cx="91440" cy="1175004"/>
          </a:xfrm>
          <a:prstGeom prst="rect">
            <a:avLst/>
          </a:prstGeom>
          <a:solidFill>
            <a:srgbClr val="55CDC0"/>
          </a:solidFill>
          <a:ln>
            <a:noFill/>
          </a:ln>
          <a:effectLst/>
        </p:spPr>
        <p:txBody>
          <a:bodyPr rtlCol="0" anchor="ctr"/>
          <a:lstStyle/>
          <a:p>
            <a:pPr algn="ctr"/>
          </a:p>
        </p:txBody>
      </p:sp>
      <p:sp>
        <p:nvSpPr>
          <p:cNvPr id="15" name="TextBox 14"/>
          <p:cNvSpPr txBox="1"/>
          <p:nvPr/>
        </p:nvSpPr>
        <p:spPr>
          <a:xfrm>
            <a:off x="640080" y="2665475"/>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The case for MES</a:t>
            </a:r>
          </a:p>
        </p:txBody>
      </p:sp>
      <p:sp>
        <p:nvSpPr>
          <p:cNvPr id="16" name="TextBox 15"/>
          <p:cNvSpPr txBox="1"/>
          <p:nvPr/>
        </p:nvSpPr>
        <p:spPr>
          <a:xfrm>
            <a:off x="640080" y="3031235"/>
            <a:ext cx="10972800" cy="681227"/>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In buses, tooling and a welding line are spread over more units. A firm that never gets there loses price-sensitive tenders.</a:t>
            </a:r>
          </a:p>
        </p:txBody>
      </p:sp>
      <p:sp>
        <p:nvSpPr>
          <p:cNvPr id="17" name="Rectangle 16"/>
          <p:cNvSpPr/>
          <p:nvPr/>
        </p:nvSpPr>
        <p:spPr>
          <a:xfrm>
            <a:off x="384048" y="3895344"/>
            <a:ext cx="11430000" cy="1175004"/>
          </a:xfrm>
          <a:prstGeom prst="rect">
            <a:avLst/>
          </a:prstGeom>
          <a:solidFill>
            <a:srgbClr val="FFFFFF"/>
          </a:solidFill>
          <a:ln w="12700">
            <a:solidFill>
              <a:srgbClr val="D5E2E6"/>
            </a:solidFill>
          </a:ln>
          <a:effectLst/>
        </p:spPr>
        <p:txBody>
          <a:bodyPr rtlCol="0" anchor="ctr"/>
          <a:lstStyle/>
          <a:p>
            <a:pPr algn="ctr"/>
          </a:p>
        </p:txBody>
      </p:sp>
      <p:sp>
        <p:nvSpPr>
          <p:cNvPr id="18" name="Rectangle 17"/>
          <p:cNvSpPr/>
          <p:nvPr/>
        </p:nvSpPr>
        <p:spPr>
          <a:xfrm>
            <a:off x="384048" y="3895344"/>
            <a:ext cx="91440" cy="1175004"/>
          </a:xfrm>
          <a:prstGeom prst="rect">
            <a:avLst/>
          </a:prstGeom>
          <a:solidFill>
            <a:srgbClr val="55CDC0"/>
          </a:solidFill>
          <a:ln>
            <a:noFill/>
          </a:ln>
          <a:effectLst/>
        </p:spPr>
        <p:txBody>
          <a:bodyPr rtlCol="0" anchor="ctr"/>
          <a:lstStyle/>
          <a:p>
            <a:pPr algn="ctr"/>
          </a:p>
        </p:txBody>
      </p:sp>
      <p:sp>
        <p:nvSpPr>
          <p:cNvPr id="19" name="TextBox 18"/>
          <p:cNvSpPr txBox="1"/>
          <p:nvPr/>
        </p:nvSpPr>
        <p:spPr>
          <a:xfrm>
            <a:off x="640080" y="3950207"/>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Why ‘always’ fails</a:t>
            </a:r>
          </a:p>
        </p:txBody>
      </p:sp>
      <p:sp>
        <p:nvSpPr>
          <p:cNvPr id="20" name="TextBox 19"/>
          <p:cNvSpPr txBox="1"/>
          <p:nvPr/>
        </p:nvSpPr>
        <p:spPr>
          <a:xfrm>
            <a:off x="640080" y="4315968"/>
            <a:ext cx="10972800" cy="681227"/>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Orders may be below MES. Beyond MES, diseconomies raise LRAC. A city may pay for a faster, smaller supplier.</a:t>
            </a:r>
          </a:p>
        </p:txBody>
      </p:sp>
      <p:sp>
        <p:nvSpPr>
          <p:cNvPr id="21" name="Rectangle 20"/>
          <p:cNvSpPr/>
          <p:nvPr/>
        </p:nvSpPr>
        <p:spPr>
          <a:xfrm>
            <a:off x="384048" y="5180076"/>
            <a:ext cx="11430000" cy="1175004"/>
          </a:xfrm>
          <a:prstGeom prst="rect">
            <a:avLst/>
          </a:prstGeom>
          <a:solidFill>
            <a:srgbClr val="FFFFFF"/>
          </a:solidFill>
          <a:ln w="12700">
            <a:solidFill>
              <a:srgbClr val="D5E2E6"/>
            </a:solidFill>
          </a:ln>
          <a:effectLst/>
        </p:spPr>
        <p:txBody>
          <a:bodyPr rtlCol="0" anchor="ctr"/>
          <a:lstStyle/>
          <a:p>
            <a:pPr algn="ctr"/>
          </a:p>
        </p:txBody>
      </p:sp>
      <p:sp>
        <p:nvSpPr>
          <p:cNvPr id="22" name="Rectangle 21"/>
          <p:cNvSpPr/>
          <p:nvPr/>
        </p:nvSpPr>
        <p:spPr>
          <a:xfrm>
            <a:off x="384048" y="5180076"/>
            <a:ext cx="91440" cy="1175004"/>
          </a:xfrm>
          <a:prstGeom prst="rect">
            <a:avLst/>
          </a:prstGeom>
          <a:solidFill>
            <a:srgbClr val="55CDC0"/>
          </a:solidFill>
          <a:ln>
            <a:noFill/>
          </a:ln>
          <a:effectLst/>
        </p:spPr>
        <p:txBody>
          <a:bodyPr rtlCol="0" anchor="ctr"/>
          <a:lstStyle/>
          <a:p>
            <a:pPr algn="ctr"/>
          </a:p>
        </p:txBody>
      </p:sp>
      <p:sp>
        <p:nvSpPr>
          <p:cNvPr id="23" name="TextBox 22"/>
          <p:cNvSpPr txBox="1"/>
          <p:nvPr/>
        </p:nvSpPr>
        <p:spPr>
          <a:xfrm>
            <a:off x="640080" y="5234940"/>
            <a:ext cx="10972800" cy="365760"/>
          </a:xfrm>
          <a:prstGeom prst="rect">
            <a:avLst/>
          </a:prstGeom>
          <a:noFill/>
        </p:spPr>
        <p:txBody>
          <a:bodyPr wrap="square" lIns="54864" rIns="54864" tIns="36576" bIns="18288" anchor="t"/>
          <a:lstStyle/>
          <a:p>
            <a:pPr algn="l">
              <a:lnSpc>
                <a:spcPct val="105000"/>
              </a:lnSpc>
              <a:spcBef>
                <a:spcPts val="0"/>
              </a:spcBef>
              <a:spcAft>
                <a:spcPts val="0"/>
              </a:spcAft>
            </a:pPr>
            <a:r>
              <a:rPr sz="2200" b="1" i="0">
                <a:solidFill>
                  <a:srgbClr val="182D3D"/>
                </a:solidFill>
                <a:latin typeface="Calibri"/>
                <a:cs typeface="Calibri"/>
                <a:ea typeface="Calibri"/>
              </a:rPr>
              <a:t>Judgement</a:t>
            </a:r>
          </a:p>
        </p:txBody>
      </p:sp>
      <p:sp>
        <p:nvSpPr>
          <p:cNvPr id="24" name="TextBox 23"/>
          <p:cNvSpPr txBox="1"/>
          <p:nvPr/>
        </p:nvSpPr>
        <p:spPr>
          <a:xfrm>
            <a:off x="640080" y="5600700"/>
            <a:ext cx="10972800" cy="681227"/>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MES is what a firm must be able to reach in a price-competitive tender. It is not the output that maximises profit in every year.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txBody>
          <a:bodyPr rtlCol="0" anchor="ctr"/>
          <a:lstStyle/>
          <a:p>
            <a:pPr algn="ctr"/>
          </a:p>
        </p:txBody>
      </p:sp>
      <p:sp>
        <p:nvSpPr>
          <p:cNvPr id="3" name="Rectangle 2"/>
          <p:cNvSpPr/>
          <p:nvPr/>
        </p:nvSpPr>
        <p:spPr>
          <a:xfrm>
            <a:off x="0" y="0"/>
            <a:ext cx="109728" cy="6858000"/>
          </a:xfrm>
          <a:prstGeom prst="rect">
            <a:avLst/>
          </a:prstGeom>
          <a:solidFill>
            <a:srgbClr val="55CDC0"/>
          </a:solidFill>
          <a:ln>
            <a:noFill/>
          </a:ln>
          <a:effectLst/>
        </p:spPr>
        <p:txBody>
          <a:bodyPr rtlCol="0" anchor="ctr"/>
          <a:lstStyle/>
          <a:p>
            <a:pPr algn="ctr"/>
          </a:p>
        </p:txBody>
      </p:sp>
      <p:sp>
        <p:nvSpPr>
          <p:cNvPr id="4" name="TextBox 3"/>
          <p:cNvSpPr txBox="1"/>
          <p:nvPr/>
        </p:nvSpPr>
        <p:spPr>
          <a:xfrm>
            <a:off x="347472" y="164592"/>
            <a:ext cx="9326880" cy="292608"/>
          </a:xfrm>
          <a:prstGeom prst="rect">
            <a:avLst/>
          </a:prstGeom>
          <a:noFill/>
        </p:spPr>
        <p:txBody>
          <a:bodyPr wrap="square" lIns="54864" rIns="54864" tIns="36576" bIns="18288" anchor="t"/>
          <a:lstStyle/>
          <a:p>
            <a:pPr algn="l">
              <a:lnSpc>
                <a:spcPct val="105000"/>
              </a:lnSpc>
              <a:spcBef>
                <a:spcPts val="0"/>
              </a:spcBef>
              <a:spcAft>
                <a:spcPts val="0"/>
              </a:spcAft>
            </a:pPr>
            <a:r>
              <a:rPr sz="1300" b="1" i="0">
                <a:solidFill>
                  <a:srgbClr val="0E7C7B"/>
                </a:solidFill>
                <a:latin typeface="Calibri"/>
                <a:cs typeface="Calibri"/>
                <a:ea typeface="Calibri"/>
              </a:rPr>
              <a:t>BEFORE THEY WRITE</a:t>
            </a:r>
          </a:p>
        </p:txBody>
      </p:sp>
      <p:sp>
        <p:nvSpPr>
          <p:cNvPr id="5" name="TextBox 4"/>
          <p:cNvSpPr txBox="1"/>
          <p:nvPr/>
        </p:nvSpPr>
        <p:spPr>
          <a:xfrm>
            <a:off x="329184" y="384048"/>
            <a:ext cx="11430000" cy="713232"/>
          </a:xfrm>
          <a:prstGeom prst="rect">
            <a:avLst/>
          </a:prstGeom>
          <a:noFill/>
        </p:spPr>
        <p:txBody>
          <a:bodyPr wrap="square" lIns="54864" rIns="54864" tIns="36576" bIns="18288" anchor="t"/>
          <a:lstStyle/>
          <a:p>
            <a:pPr algn="l">
              <a:lnSpc>
                <a:spcPct val="105000"/>
              </a:lnSpc>
              <a:spcBef>
                <a:spcPts val="0"/>
              </a:spcBef>
              <a:spcAft>
                <a:spcPts val="0"/>
              </a:spcAft>
            </a:pPr>
            <a:r>
              <a:rPr sz="3200" b="1" i="0">
                <a:solidFill>
                  <a:srgbClr val="182D3D"/>
                </a:solidFill>
                <a:latin typeface="Calibri"/>
                <a:cs typeface="Calibri"/>
                <a:ea typeface="Calibri"/>
              </a:rPr>
              <a:t>Three sentences worth more than a list</a:t>
            </a:r>
          </a:p>
        </p:txBody>
      </p:sp>
      <p:sp>
        <p:nvSpPr>
          <p:cNvPr id="6" name="Rectangle 5"/>
          <p:cNvSpPr/>
          <p:nvPr/>
        </p:nvSpPr>
        <p:spPr>
          <a:xfrm>
            <a:off x="365760" y="6565392"/>
            <a:ext cx="11430000" cy="13716"/>
          </a:xfrm>
          <a:prstGeom prst="rect">
            <a:avLst/>
          </a:prstGeom>
          <a:solidFill>
            <a:srgbClr val="D5E2E6"/>
          </a:solidFill>
          <a:ln>
            <a:noFill/>
          </a:ln>
          <a:effectLst/>
        </p:spPr>
        <p:txBody>
          <a:bodyPr rtlCol="0" anchor="ctr"/>
          <a:lstStyle/>
          <a:p>
            <a:pPr algn="ctr"/>
          </a:p>
        </p:txBody>
      </p:sp>
      <p:sp>
        <p:nvSpPr>
          <p:cNvPr id="7" name="TextBox 6"/>
          <p:cNvSpPr txBox="1"/>
          <p:nvPr/>
        </p:nvSpPr>
        <p:spPr>
          <a:xfrm>
            <a:off x="347472" y="6565392"/>
            <a:ext cx="8412480" cy="256032"/>
          </a:xfrm>
          <a:prstGeom prst="rect">
            <a:avLst/>
          </a:prstGeom>
          <a:noFill/>
        </p:spPr>
        <p:txBody>
          <a:bodyPr wrap="square" lIns="54864" rIns="54864" tIns="36576" bIns="18288" anchor="t"/>
          <a:lstStyle/>
          <a:p>
            <a:pPr algn="l">
              <a:lnSpc>
                <a:spcPct val="105000"/>
              </a:lnSpc>
              <a:spcBef>
                <a:spcPts val="0"/>
              </a:spcBef>
              <a:spcAft>
                <a:spcPts val="0"/>
              </a:spcAft>
            </a:pPr>
            <a:r>
              <a:rPr sz="1100" b="0" i="0">
                <a:solidFill>
                  <a:srgbClr val="5E707A"/>
                </a:solidFill>
                <a:latin typeface="Calibri"/>
                <a:cs typeface="Calibri"/>
                <a:ea typeface="Calibri"/>
              </a:rPr>
              <a:t>U3_R01  ·  Revenue, costs, profit and scale  ·  44/44</a:t>
            </a:r>
          </a:p>
        </p:txBody>
      </p:sp>
      <p:sp>
        <p:nvSpPr>
          <p:cNvPr id="8" name="TextBox 7"/>
          <p:cNvSpPr txBox="1"/>
          <p:nvPr/>
        </p:nvSpPr>
        <p:spPr>
          <a:xfrm>
            <a:off x="9326880" y="6565392"/>
            <a:ext cx="2468880" cy="256032"/>
          </a:xfrm>
          <a:prstGeom prst="rect">
            <a:avLst/>
          </a:prstGeom>
          <a:noFill/>
        </p:spPr>
        <p:txBody>
          <a:bodyPr wrap="square" lIns="54864" rIns="54864" tIns="36576" bIns="18288" anchor="t"/>
          <a:lstStyle/>
          <a:p>
            <a:pPr algn="r">
              <a:lnSpc>
                <a:spcPct val="105000"/>
              </a:lnSpc>
              <a:spcBef>
                <a:spcPts val="0"/>
              </a:spcBef>
              <a:spcAft>
                <a:spcPts val="0"/>
              </a:spcAft>
            </a:pPr>
            <a:r>
              <a:rPr sz="1100" b="1" i="0">
                <a:solidFill>
                  <a:srgbClr val="182D3D"/>
                </a:solidFill>
                <a:latin typeface="Calibri"/>
                <a:cs typeface="Calibri"/>
                <a:ea typeface="Calibri"/>
              </a:rPr>
              <a:t>PALMER GROVE</a:t>
            </a:r>
          </a:p>
        </p:txBody>
      </p:sp>
      <p:sp>
        <p:nvSpPr>
          <p:cNvPr id="9" name="Rectangle 8"/>
          <p:cNvSpPr/>
          <p:nvPr/>
        </p:nvSpPr>
        <p:spPr>
          <a:xfrm>
            <a:off x="384048" y="1353312"/>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0" name="Rectangle 9"/>
          <p:cNvSpPr/>
          <p:nvPr/>
        </p:nvSpPr>
        <p:spPr>
          <a:xfrm>
            <a:off x="384048" y="1353312"/>
            <a:ext cx="91440" cy="1578864"/>
          </a:xfrm>
          <a:prstGeom prst="rect">
            <a:avLst/>
          </a:prstGeom>
          <a:solidFill>
            <a:srgbClr val="55CDC0"/>
          </a:solidFill>
          <a:ln>
            <a:noFill/>
          </a:ln>
          <a:effectLst/>
        </p:spPr>
        <p:txBody>
          <a:bodyPr rtlCol="0" anchor="ctr"/>
          <a:lstStyle/>
          <a:p>
            <a:pPr algn="ctr"/>
          </a:p>
        </p:txBody>
      </p:sp>
      <p:sp>
        <p:nvSpPr>
          <p:cNvPr id="11" name="TextBox 10"/>
          <p:cNvSpPr txBox="1"/>
          <p:nvPr/>
        </p:nvSpPr>
        <p:spPr>
          <a:xfrm>
            <a:off x="640080" y="1499616"/>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Profit is maximised where marginal cost equals marginal revenue and marginal cost is rising. A firm shuts down in the short run only when price is below average variable cost. The minimum efficient scale is the lowest output at which long-run average cost stops falling, and it is not the same output.</a:t>
            </a:r>
          </a:p>
        </p:txBody>
      </p:sp>
      <p:sp>
        <p:nvSpPr>
          <p:cNvPr id="12" name="Rectangle 11"/>
          <p:cNvSpPr/>
          <p:nvPr/>
        </p:nvSpPr>
        <p:spPr>
          <a:xfrm>
            <a:off x="384048" y="3078479"/>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3" name="Rectangle 12"/>
          <p:cNvSpPr/>
          <p:nvPr/>
        </p:nvSpPr>
        <p:spPr>
          <a:xfrm>
            <a:off x="384048" y="3078479"/>
            <a:ext cx="91440" cy="1578864"/>
          </a:xfrm>
          <a:prstGeom prst="rect">
            <a:avLst/>
          </a:prstGeom>
          <a:solidFill>
            <a:srgbClr val="55CDC0"/>
          </a:solidFill>
          <a:ln>
            <a:noFill/>
          </a:ln>
          <a:effectLst/>
        </p:spPr>
        <p:txBody>
          <a:bodyPr rtlCol="0" anchor="ctr"/>
          <a:lstStyle/>
          <a:p>
            <a:pPr algn="ctr"/>
          </a:p>
        </p:txBody>
      </p:sp>
      <p:sp>
        <p:nvSpPr>
          <p:cNvPr id="14" name="TextBox 13"/>
          <p:cNvSpPr txBox="1"/>
          <p:nvPr/>
        </p:nvSpPr>
        <p:spPr>
          <a:xfrm>
            <a:off x="640080" y="3224783"/>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Internal economies move the firm along its long-run average cost curve. External economies shift that curve. Diminishing returns are a short-run story about a fixed factor. If the essay says ‘bigger is cheaper’ and stops, it has not answered.</a:t>
            </a:r>
          </a:p>
        </p:txBody>
      </p:sp>
      <p:sp>
        <p:nvSpPr>
          <p:cNvPr id="15" name="Rectangle 14"/>
          <p:cNvSpPr/>
          <p:nvPr/>
        </p:nvSpPr>
        <p:spPr>
          <a:xfrm>
            <a:off x="384048" y="4803648"/>
            <a:ext cx="11430000" cy="1578864"/>
          </a:xfrm>
          <a:prstGeom prst="rect">
            <a:avLst/>
          </a:prstGeom>
          <a:solidFill>
            <a:srgbClr val="FFFFFF"/>
          </a:solidFill>
          <a:ln w="12700">
            <a:solidFill>
              <a:srgbClr val="D5E2E6"/>
            </a:solidFill>
          </a:ln>
          <a:effectLst/>
        </p:spPr>
        <p:txBody>
          <a:bodyPr rtlCol="0" anchor="ctr"/>
          <a:lstStyle/>
          <a:p>
            <a:pPr algn="ctr"/>
          </a:p>
        </p:txBody>
      </p:sp>
      <p:sp>
        <p:nvSpPr>
          <p:cNvPr id="16" name="Rectangle 15"/>
          <p:cNvSpPr/>
          <p:nvPr/>
        </p:nvSpPr>
        <p:spPr>
          <a:xfrm>
            <a:off x="384048" y="4803648"/>
            <a:ext cx="91440" cy="1578864"/>
          </a:xfrm>
          <a:prstGeom prst="rect">
            <a:avLst/>
          </a:prstGeom>
          <a:solidFill>
            <a:srgbClr val="55CDC0"/>
          </a:solidFill>
          <a:ln>
            <a:noFill/>
          </a:ln>
          <a:effectLst/>
        </p:spPr>
        <p:txBody>
          <a:bodyPr rtlCol="0" anchor="ctr"/>
          <a:lstStyle/>
          <a:p>
            <a:pPr algn="ctr"/>
          </a:p>
        </p:txBody>
      </p:sp>
      <p:sp>
        <p:nvSpPr>
          <p:cNvPr id="17" name="TextBox 16"/>
          <p:cNvSpPr txBox="1"/>
          <p:nvPr/>
        </p:nvSpPr>
        <p:spPr>
          <a:xfrm>
            <a:off x="640080" y="4949952"/>
            <a:ext cx="10972800" cy="1322832"/>
          </a:xfrm>
          <a:prstGeom prst="rect">
            <a:avLst/>
          </a:prstGeom>
          <a:noFill/>
        </p:spPr>
        <p:txBody>
          <a:bodyPr wrap="square" lIns="54864" rIns="54864" tIns="36576" bIns="18288" anchor="t"/>
          <a:lstStyle/>
          <a:p>
            <a:pPr algn="l">
              <a:lnSpc>
                <a:spcPct val="105000"/>
              </a:lnSpc>
              <a:spcBef>
                <a:spcPts val="0"/>
              </a:spcBef>
              <a:spcAft>
                <a:spcPts val="0"/>
              </a:spcAft>
            </a:pPr>
            <a:r>
              <a:rPr sz="2000" b="0" i="0">
                <a:solidFill>
                  <a:srgbClr val="1C2B36"/>
                </a:solidFill>
                <a:latin typeface="Calibri"/>
                <a:cs typeface="Calibri"/>
                <a:ea typeface="Calibri"/>
              </a:rPr>
              <a:t>Close the revision by having three pupils say one of these sentences each, with a number or a firm in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Palmer Grove IAL Economics</dc:title>
  <dc:subject>Pearson Edexcel International A Level Economics WEC11</dc:subject>
  <dc:creator>Palmer Grove Publishing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